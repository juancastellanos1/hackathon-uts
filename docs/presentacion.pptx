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Presentamos Santander Inteligente, un proyecto que prioriza municipios según su riesgo sísmico. Usamos datos oficiales del SGC, el DANE y la UNGRD, y un agente de aprendizaje por refuerzo. El equipo se presenta al final de la sesión.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Santander concentra una sismicidad constante, sobre todo en el Nido de Bucaramanga. En promedio se registran 84,6 sismos de magnitud 2,5 o mayor al mes en el periodo de prueba. Con presupuesto para 10 estudios al año, la pregunta es a qué municipios darles prioridad.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Integramos cuatro fuentes oficiales: el catálogo sísmico del SGC, la división político-administrativa del DANE, la proyección de población y las emergencias de la UNGRD. El resultado es una tabla única de 4.224 filas con 39 variables. Cada sismo se asigna a la cabecera municipal más cercana y solo usamos magnitud 2,5 o mayor desde 2002.</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flujo parte de las fuentes oficiales, que se unifican en una tabla de municipio por año. Sobre esa tabla corren en paralelo un modelo supervisado que estima la amenaza del año siguiente y un no supervisado que agrupa municipios por tipología. El agente de refuerzo combina ambos y produce la priorización 2026, que se consulta desde la demo.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modelo supervisado alcanza un F1-macro de 0,771 en el periodo de prueba, con un intervalo de confianza entre 0,731 y 0,809. Frente a la mayoritaria la mejora es grande, pero frente a la persistencia el margen es de 0,028 puntos. Lo presentamos así para no sobrevender el modelo.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no supervisado agrupa los municipios en 5 tipologías, con una silueta de 0,538. Santander concentra la mayoría de la sismicidad intermedia activa y el cluster del Nido. Sin etiquetas, DBSCAN recupera por sí solo el Nido de Bucaramanga.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agente elige, cada año, 10 municipios de Santander con un presupuesto fijo. Recibe como recompensa el riesgo realizado un año después, que combina amenaza, población y vulnerabilidad. Aprende con REINFORCE entrenando de 2006 a 2015 y lo evaluamos en años que no vio.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el periodo de prueba, el agente alcanza el 78,6 % del óptimo, y la mejor línea base llega al 72,8 %. La curva de aprendizaje muestra la recompensa de entrenamiento a lo largo de las épocas. La variación entre semillas es pequeña, con una desviación de 2,3 puntos.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Aplicamos la política aprendida al estado de 2025 para obtener la priorización 2026. El primer lugar es Los Santos, y 9 de los diez primeros tienen confianza alta. Es una herramienta exploratoria que orienta estudios, no predice sismos.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valor del proyecto está en orientar dónde invertir estudios e inspecciones con datos oficiales. Sus limitaciones principales son que el riesgo realizado es un proxy y que la exposición y la vulnerabilidad son estáticas. Las extensiones naturales son usar polígonos oficiales, la norma NSR-10 y los daños históricos.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10896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
            <a:ext cx="11277295" cy="1005840"/>
          </a:xfrm>
          <a:prstGeom prst="rect">
            <a:avLst/>
          </a:prstGeom>
          <a:noFill/>
        </p:spPr>
        <p:txBody>
          <a:bodyPr wrap="square" anchor="ctr">
            <a:spAutoFit/>
          </a:bodyPr>
          <a:lstStyle/>
          <a:p>
            <a:pPr algn="l">
              <a:spcAft>
                <a:spcPts val="600"/>
              </a:spcAft>
            </a:pPr>
            <a:r>
              <a:rPr sz="3200" b="1">
                <a:solidFill>
                  <a:srgbClr val="FFFFFF"/>
                </a:solidFill>
                <a:latin typeface="Calibri"/>
              </a:rPr>
              <a:t>Santander Inteligente</a:t>
            </a:r>
          </a:p>
        </p:txBody>
      </p:sp>
      <p:sp>
        <p:nvSpPr>
          <p:cNvPr id="4" name="TextBox 3"/>
          <p:cNvSpPr txBox="1"/>
          <p:nvPr/>
        </p:nvSpPr>
        <p:spPr>
          <a:xfrm>
            <a:off x="640080" y="1645920"/>
            <a:ext cx="11277295" cy="1097280"/>
          </a:xfrm>
          <a:prstGeom prst="rect">
            <a:avLst/>
          </a:prstGeom>
          <a:noFill/>
        </p:spPr>
        <p:txBody>
          <a:bodyPr wrap="square" anchor="t">
            <a:spAutoFit/>
          </a:bodyPr>
          <a:lstStyle/>
          <a:p>
            <a:pPr algn="l">
              <a:spcAft>
                <a:spcPts val="600"/>
              </a:spcAft>
            </a:pPr>
            <a:r>
              <a:rPr sz="2400" b="0">
                <a:solidFill>
                  <a:srgbClr val="FFFFFF"/>
                </a:solidFill>
                <a:latin typeface="Calibri"/>
              </a:rPr>
              <a:t>Priorización exploratoria del riesgo sísmico con aprendizaje por refuerzo</a:t>
            </a:r>
          </a:p>
        </p:txBody>
      </p:sp>
      <p:sp>
        <p:nvSpPr>
          <p:cNvPr id="5" name="Rectangle 4"/>
          <p:cNvSpPr/>
          <p:nvPr/>
        </p:nvSpPr>
        <p:spPr>
          <a:xfrm>
            <a:off x="0" y="3108960"/>
            <a:ext cx="12191695" cy="73152"/>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3566160"/>
            <a:ext cx="11277295" cy="548640"/>
          </a:xfrm>
          <a:prstGeom prst="rect">
            <a:avLst/>
          </a:prstGeom>
          <a:noFill/>
        </p:spPr>
        <p:txBody>
          <a:bodyPr wrap="square" anchor="t">
            <a:spAutoFit/>
          </a:bodyPr>
          <a:lstStyle/>
          <a:p>
            <a:pPr algn="l">
              <a:spcAft>
                <a:spcPts val="600"/>
              </a:spcAft>
            </a:pPr>
            <a:r>
              <a:rPr sz="2200" b="1">
                <a:solidFill>
                  <a:srgbClr val="1F4E79"/>
                </a:solidFill>
                <a:latin typeface="Calibri"/>
              </a:rPr>
              <a:t>Hackathon CIAI UTSmart 2026 · Reto Avanzado</a:t>
            </a:r>
          </a:p>
        </p:txBody>
      </p:sp>
      <p:sp>
        <p:nvSpPr>
          <p:cNvPr id="7" name="TextBox 6"/>
          <p:cNvSpPr txBox="1"/>
          <p:nvPr/>
        </p:nvSpPr>
        <p:spPr>
          <a:xfrm>
            <a:off x="640080" y="4206240"/>
            <a:ext cx="11277295" cy="548640"/>
          </a:xfrm>
          <a:prstGeom prst="rect">
            <a:avLst/>
          </a:prstGeom>
          <a:noFill/>
        </p:spPr>
        <p:txBody>
          <a:bodyPr wrap="square" anchor="t">
            <a:spAutoFit/>
          </a:bodyPr>
          <a:lstStyle/>
          <a:p>
            <a:pPr algn="l">
              <a:spcAft>
                <a:spcPts val="600"/>
              </a:spcAft>
            </a:pPr>
            <a:r>
              <a:rPr sz="2000" b="0">
                <a:solidFill>
                  <a:srgbClr val="262626"/>
                </a:solidFill>
                <a:latin typeface="Calibri"/>
              </a:rPr>
              <a:t>Equipo: [nombres]</a:t>
            </a:r>
          </a:p>
        </p:txBody>
      </p:sp>
      <p:sp>
        <p:nvSpPr>
          <p:cNvPr id="8" name="TextBox 7"/>
          <p:cNvSpPr txBox="1"/>
          <p:nvPr/>
        </p:nvSpPr>
        <p:spPr>
          <a:xfrm>
            <a:off x="640080" y="4937760"/>
            <a:ext cx="11277295" cy="731520"/>
          </a:xfrm>
          <a:prstGeom prst="rect">
            <a:avLst/>
          </a:prstGeom>
          <a:noFill/>
        </p:spPr>
        <p:txBody>
          <a:bodyPr wrap="square" anchor="t">
            <a:spAutoFit/>
          </a:bodyPr>
          <a:lstStyle/>
          <a:p>
            <a:pPr algn="l">
              <a:spcAft>
                <a:spcPts val="600"/>
              </a:spcAft>
            </a:pPr>
            <a:r>
              <a:rPr sz="1800" b="0">
                <a:solidFill>
                  <a:srgbClr val="7F7F7F"/>
                </a:solidFill>
                <a:latin typeface="Calibri"/>
              </a:rPr>
              <a:t>Fuentes oficiales: SGC, DANE y UNGRD · 4224 municipio-año de 176 municipios</a:t>
            </a:r>
          </a:p>
        </p:txBody>
      </p:sp>
      <p:sp>
        <p:nvSpPr>
          <p:cNvPr id="9" name="TextBox 8"/>
          <p:cNvSpPr txBox="1"/>
          <p:nvPr/>
        </p:nvSpPr>
        <p:spPr>
          <a:xfrm>
            <a:off x="10728655" y="6400800"/>
            <a:ext cx="1097280" cy="320040"/>
          </a:xfrm>
          <a:prstGeom prst="rect">
            <a:avLst/>
          </a:prstGeom>
          <a:noFill/>
        </p:spPr>
        <p:txBody>
          <a:bodyPr wrap="square" anchor="t">
            <a:spAutoFit/>
          </a:bodyPr>
          <a:lstStyle/>
          <a:p>
            <a:pPr algn="r">
              <a:spcAft>
                <a:spcPts val="600"/>
              </a:spcAft>
            </a:pPr>
            <a:r>
              <a:rPr sz="1200" b="0">
                <a:solidFill>
                  <a:srgbClr val="7F7F7F"/>
                </a:solidFill>
                <a:latin typeface="Calibri"/>
              </a:rPr>
              <a:t>1 / 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0"/>
            <a:ext cx="11277295" cy="1005840"/>
          </a:xfrm>
          <a:prstGeom prst="rect">
            <a:avLst/>
          </a:prstGeom>
          <a:noFill/>
        </p:spPr>
        <p:txBody>
          <a:bodyPr wrap="square" anchor="ctr">
            <a:spAutoFit/>
          </a:bodyPr>
          <a:lstStyle/>
          <a:p>
            <a:pPr algn="l">
              <a:spcAft>
                <a:spcPts val="600"/>
              </a:spcAft>
            </a:pPr>
            <a:r>
              <a:rPr sz="3000" b="1">
                <a:solidFill>
                  <a:srgbClr val="FFFFFF"/>
                </a:solidFill>
                <a:latin typeface="Calibri"/>
              </a:rPr>
              <a:t>El problema: el Nido sísmico de Bucaramanga</a:t>
            </a:r>
          </a:p>
        </p:txBody>
      </p:sp>
      <p:sp>
        <p:nvSpPr>
          <p:cNvPr id="4" name="Rectangle 3"/>
          <p:cNvSpPr/>
          <p:nvPr/>
        </p:nvSpPr>
        <p:spPr>
          <a:xfrm>
            <a:off x="0" y="1005840"/>
            <a:ext cx="12191695" cy="54864"/>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728655" y="6400800"/>
            <a:ext cx="1097280" cy="320040"/>
          </a:xfrm>
          <a:prstGeom prst="rect">
            <a:avLst/>
          </a:prstGeom>
          <a:noFill/>
        </p:spPr>
        <p:txBody>
          <a:bodyPr wrap="square" anchor="t">
            <a:spAutoFit/>
          </a:bodyPr>
          <a:lstStyle/>
          <a:p>
            <a:pPr algn="r">
              <a:spcAft>
                <a:spcPts val="600"/>
              </a:spcAft>
            </a:pPr>
            <a:r>
              <a:rPr sz="1200" b="0">
                <a:solidFill>
                  <a:srgbClr val="7F7F7F"/>
                </a:solidFill>
                <a:latin typeface="Calibri"/>
              </a:rPr>
              <a:t>2 / 10</a:t>
            </a:r>
          </a:p>
        </p:txBody>
      </p:sp>
      <p:sp>
        <p:nvSpPr>
          <p:cNvPr id="6" name="TextBox 5"/>
          <p:cNvSpPr txBox="1"/>
          <p:nvPr/>
        </p:nvSpPr>
        <p:spPr>
          <a:xfrm>
            <a:off x="457200" y="1325880"/>
            <a:ext cx="6949440" cy="3291840"/>
          </a:xfrm>
          <a:prstGeom prst="rect">
            <a:avLst/>
          </a:prstGeom>
          <a:noFill/>
        </p:spPr>
        <p:txBody>
          <a:bodyPr wrap="square" anchor="t">
            <a:spAutoFit/>
          </a:bodyPr>
          <a:lstStyle/>
          <a:p>
            <a:pPr algn="l">
              <a:spcAft>
                <a:spcPts val="600"/>
              </a:spcAft>
            </a:pPr>
            <a:r>
              <a:rPr sz="1800" b="0">
                <a:solidFill>
                  <a:srgbClr val="262626"/>
                </a:solidFill>
                <a:latin typeface="Calibri"/>
              </a:rPr>
              <a:t>•  Santander registra sismos de forma continua, concentrados en el Nido sísmico de Bucaramanga (sismicidad intermedia).</a:t>
            </a:r>
          </a:p>
          <a:p>
            <a:pPr algn="l">
              <a:spcAft>
                <a:spcPts val="600"/>
              </a:spcAft>
            </a:pPr>
            <a:r>
              <a:rPr sz="1800" b="0">
                <a:solidFill>
                  <a:srgbClr val="262626"/>
                </a:solidFill>
                <a:latin typeface="Calibri"/>
              </a:rPr>
              <a:t>•  Pregunta de decisión: con presupuesto para 10 estudios o inspecciones al año, ¿qué municipios priorizar?</a:t>
            </a:r>
          </a:p>
          <a:p>
            <a:pPr algn="l">
              <a:spcAft>
                <a:spcPts val="600"/>
              </a:spcAft>
            </a:pPr>
            <a:r>
              <a:rPr sz="1800" b="0">
                <a:solidFill>
                  <a:srgbClr val="262626"/>
                </a:solidFill>
                <a:latin typeface="Calibri"/>
              </a:rPr>
              <a:t>•  Marco conceptual: Riesgo = Amenaza × Exposición × Vulnerabilidad.</a:t>
            </a:r>
          </a:p>
          <a:p>
            <a:pPr algn="l">
              <a:spcAft>
                <a:spcPts val="600"/>
              </a:spcAft>
            </a:pPr>
            <a:r>
              <a:rPr sz="1800" b="0">
                <a:solidFill>
                  <a:srgbClr val="262626"/>
                </a:solidFill>
                <a:latin typeface="Calibri"/>
              </a:rPr>
              <a:t>•  Amenaza: actividad sísmica (SGC). Exposición: población (DANE). Vulnerabilidad: emergencias (UNGRD).</a:t>
            </a:r>
          </a:p>
        </p:txBody>
      </p:sp>
      <p:sp>
        <p:nvSpPr>
          <p:cNvPr id="7" name="Rectangle 6"/>
          <p:cNvSpPr/>
          <p:nvPr/>
        </p:nvSpPr>
        <p:spPr>
          <a:xfrm>
            <a:off x="7955279" y="1645920"/>
            <a:ext cx="3749039" cy="2926080"/>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138160" y="1783080"/>
            <a:ext cx="3383280" cy="640080"/>
          </a:xfrm>
          <a:prstGeom prst="rect">
            <a:avLst/>
          </a:prstGeom>
          <a:noFill/>
        </p:spPr>
        <p:txBody>
          <a:bodyPr wrap="square" anchor="t">
            <a:spAutoFit/>
          </a:bodyPr>
          <a:lstStyle/>
          <a:p>
            <a:pPr algn="ctr">
              <a:spcAft>
                <a:spcPts val="600"/>
              </a:spcAft>
            </a:pPr>
            <a:r>
              <a:rPr sz="1800" b="1">
                <a:solidFill>
                  <a:srgbClr val="1F4E79"/>
                </a:solidFill>
                <a:latin typeface="Calibri"/>
              </a:rPr>
              <a:t>Sismos M ≥ 2,5 por mes en Santander</a:t>
            </a:r>
          </a:p>
        </p:txBody>
      </p:sp>
      <p:sp>
        <p:nvSpPr>
          <p:cNvPr id="9" name="TextBox 8"/>
          <p:cNvSpPr txBox="1"/>
          <p:nvPr/>
        </p:nvSpPr>
        <p:spPr>
          <a:xfrm>
            <a:off x="8138160" y="2514600"/>
            <a:ext cx="3383280" cy="1097280"/>
          </a:xfrm>
          <a:prstGeom prst="rect">
            <a:avLst/>
          </a:prstGeom>
          <a:noFill/>
        </p:spPr>
        <p:txBody>
          <a:bodyPr wrap="square" anchor="t">
            <a:spAutoFit/>
          </a:bodyPr>
          <a:lstStyle/>
          <a:p>
            <a:pPr algn="ctr">
              <a:spcAft>
                <a:spcPts val="600"/>
              </a:spcAft>
            </a:pPr>
            <a:r>
              <a:rPr sz="5400" b="1">
                <a:solidFill>
                  <a:srgbClr val="E07A1F"/>
                </a:solidFill>
                <a:latin typeface="Calibri"/>
              </a:rPr>
              <a:t>84,6</a:t>
            </a:r>
          </a:p>
        </p:txBody>
      </p:sp>
      <p:sp>
        <p:nvSpPr>
          <p:cNvPr id="10" name="TextBox 9"/>
          <p:cNvSpPr txBox="1"/>
          <p:nvPr/>
        </p:nvSpPr>
        <p:spPr>
          <a:xfrm>
            <a:off x="8138160" y="3657600"/>
            <a:ext cx="3383280" cy="822960"/>
          </a:xfrm>
          <a:prstGeom prst="rect">
            <a:avLst/>
          </a:prstGeom>
          <a:noFill/>
        </p:spPr>
        <p:txBody>
          <a:bodyPr wrap="square" anchor="t">
            <a:spAutoFit/>
          </a:bodyPr>
          <a:lstStyle/>
          <a:p>
            <a:pPr algn="ctr">
              <a:spcAft>
                <a:spcPts val="600"/>
              </a:spcAft>
            </a:pPr>
            <a:r>
              <a:rPr sz="1600" b="0">
                <a:solidFill>
                  <a:srgbClr val="262626"/>
                </a:solidFill>
                <a:latin typeface="Calibri"/>
              </a:rPr>
              <a:t>Promedio mensual en el periodo de prueba 2020–2024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0"/>
            <a:ext cx="11277295" cy="1005840"/>
          </a:xfrm>
          <a:prstGeom prst="rect">
            <a:avLst/>
          </a:prstGeom>
          <a:noFill/>
        </p:spPr>
        <p:txBody>
          <a:bodyPr wrap="square" anchor="ctr">
            <a:spAutoFit/>
          </a:bodyPr>
          <a:lstStyle/>
          <a:p>
            <a:pPr algn="l">
              <a:spcAft>
                <a:spcPts val="600"/>
              </a:spcAft>
            </a:pPr>
            <a:r>
              <a:rPr sz="3000" b="1">
                <a:solidFill>
                  <a:srgbClr val="FFFFFF"/>
                </a:solidFill>
                <a:latin typeface="Calibri"/>
              </a:rPr>
              <a:t>Datos e integración: cuatro fuentes oficiales</a:t>
            </a:r>
          </a:p>
        </p:txBody>
      </p:sp>
      <p:sp>
        <p:nvSpPr>
          <p:cNvPr id="4" name="Rectangle 3"/>
          <p:cNvSpPr/>
          <p:nvPr/>
        </p:nvSpPr>
        <p:spPr>
          <a:xfrm>
            <a:off x="0" y="1005840"/>
            <a:ext cx="12191695" cy="54864"/>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728655" y="6400800"/>
            <a:ext cx="1097280" cy="320040"/>
          </a:xfrm>
          <a:prstGeom prst="rect">
            <a:avLst/>
          </a:prstGeom>
          <a:noFill/>
        </p:spPr>
        <p:txBody>
          <a:bodyPr wrap="square" anchor="t">
            <a:spAutoFit/>
          </a:bodyPr>
          <a:lstStyle/>
          <a:p>
            <a:pPr algn="r">
              <a:spcAft>
                <a:spcPts val="600"/>
              </a:spcAft>
            </a:pPr>
            <a:r>
              <a:rPr sz="1200" b="0">
                <a:solidFill>
                  <a:srgbClr val="7F7F7F"/>
                </a:solidFill>
                <a:latin typeface="Calibri"/>
              </a:rPr>
              <a:t>3 / 10</a:t>
            </a:r>
          </a:p>
        </p:txBody>
      </p:sp>
      <p:sp>
        <p:nvSpPr>
          <p:cNvPr id="6" name="TextBox 5"/>
          <p:cNvSpPr txBox="1"/>
          <p:nvPr/>
        </p:nvSpPr>
        <p:spPr>
          <a:xfrm>
            <a:off x="457200" y="1325880"/>
            <a:ext cx="6035040" cy="4754880"/>
          </a:xfrm>
          <a:prstGeom prst="rect">
            <a:avLst/>
          </a:prstGeom>
          <a:noFill/>
        </p:spPr>
        <p:txBody>
          <a:bodyPr wrap="square" anchor="t">
            <a:spAutoFit/>
          </a:bodyPr>
          <a:lstStyle/>
          <a:p>
            <a:pPr algn="l">
              <a:spcAft>
                <a:spcPts val="600"/>
              </a:spcAft>
            </a:pPr>
            <a:r>
              <a:rPr sz="1800" b="0">
                <a:solidFill>
                  <a:srgbClr val="262626"/>
                </a:solidFill>
                <a:latin typeface="Calibri"/>
              </a:rPr>
              <a:t>•  SGC, catálogo RSNC: 222.085 eventos en 2 consultas unificadas (1993–2018 y 2018–hoy).</a:t>
            </a:r>
          </a:p>
          <a:p>
            <a:pPr algn="l">
              <a:spcAft>
                <a:spcPts val="600"/>
              </a:spcAft>
            </a:pPr>
            <a:r>
              <a:rPr sz="1800" b="0">
                <a:solidFill>
                  <a:srgbClr val="262626"/>
                </a:solidFill>
                <a:latin typeface="Calibri"/>
              </a:rPr>
              <a:t>•  Tabla única: 4.224 filas × 39 variables (municipio × año, 2002–2025, 176 municipios).</a:t>
            </a:r>
          </a:p>
          <a:p>
            <a:pPr algn="l">
              <a:spcAft>
                <a:spcPts val="600"/>
              </a:spcAft>
            </a:pPr>
            <a:r>
              <a:rPr sz="1800" b="0">
                <a:solidFill>
                  <a:srgbClr val="262626"/>
                </a:solidFill>
                <a:latin typeface="Calibri"/>
              </a:rPr>
              <a:t>•  Integración: cada sismo se asigna a la cabecera municipal más cercana.</a:t>
            </a:r>
          </a:p>
          <a:p>
            <a:pPr algn="l">
              <a:spcAft>
                <a:spcPts val="600"/>
              </a:spcAft>
            </a:pPr>
            <a:r>
              <a:rPr sz="1800" b="0">
                <a:solidFill>
                  <a:srgbClr val="262626"/>
                </a:solidFill>
                <a:latin typeface="Calibri"/>
              </a:rPr>
              <a:t>•  Magnitud de completitud: M ≥ 2,5 desde 2002. El cambio de red de 2018 se modela con la variable periodo_red.</a:t>
            </a:r>
          </a:p>
          <a:p>
            <a:pPr algn="l">
              <a:spcAft>
                <a:spcPts val="600"/>
              </a:spcAft>
            </a:pPr>
            <a:r>
              <a:rPr sz="1800" b="0">
                <a:solidFill>
                  <a:srgbClr val="262626"/>
                </a:solidFill>
                <a:latin typeface="Calibri"/>
              </a:rPr>
              <a:t>•  Calidad: se excluyen eventos atípicos (RMS &gt; 2,0 s o error de profundidad &gt; 50 km).</a:t>
            </a:r>
          </a:p>
        </p:txBody>
      </p:sp>
      <p:graphicFrame>
        <p:nvGraphicFramePr>
          <p:cNvPr id="7" name="Table 6"/>
          <p:cNvGraphicFramePr>
            <a:graphicFrameLocks noGrp="1"/>
          </p:cNvGraphicFramePr>
          <p:nvPr/>
        </p:nvGraphicFramePr>
        <p:xfrm>
          <a:off x="6766560" y="1463040"/>
          <a:ext cx="4937760" cy="1828800"/>
        </p:xfrm>
        <a:graphic>
          <a:graphicData uri="http://schemas.openxmlformats.org/drawingml/2006/table">
            <a:tbl>
              <a:tblPr firstRow="1" bandRow="1">
                <a:tableStyleId>{5C22544A-7EE6-4342-B048-85BDC9FD1C3A}</a:tableStyleId>
              </a:tblPr>
              <a:tblGrid>
                <a:gridCol w="2103120"/>
                <a:gridCol w="2834640"/>
              </a:tblGrid>
              <a:tr h="365760">
                <a:tc>
                  <a:txBody>
                    <a:bodyPr wrap="square"/>
                    <a:lstStyle/>
                    <a:p>
                      <a:r>
                        <a:rPr sz="1600" b="1">
                          <a:solidFill>
                            <a:srgbClr val="FFFFFF"/>
                          </a:solidFill>
                          <a:latin typeface="Calibri"/>
                        </a:rPr>
                        <a:t>Fuente</a:t>
                      </a:r>
                    </a:p>
                  </a:txBody>
                  <a:tcPr marL="73152" marR="73152" marT="36576" marB="36576">
                    <a:solidFill>
                      <a:srgbClr val="1F4E79"/>
                    </a:solidFill>
                  </a:tcPr>
                </a:tc>
                <a:tc>
                  <a:txBody>
                    <a:bodyPr wrap="square"/>
                    <a:lstStyle/>
                    <a:p>
                      <a:r>
                        <a:rPr sz="1600" b="1">
                          <a:solidFill>
                            <a:srgbClr val="FFFFFF"/>
                          </a:solidFill>
                          <a:latin typeface="Calibri"/>
                        </a:rPr>
                        <a:t>Aporta</a:t>
                      </a:r>
                    </a:p>
                  </a:txBody>
                  <a:tcPr marL="73152" marR="73152" marT="36576" marB="36576">
                    <a:solidFill>
                      <a:srgbClr val="1F4E79"/>
                    </a:solidFill>
                  </a:tcPr>
                </a:tc>
              </a:tr>
              <a:tr h="365760">
                <a:tc>
                  <a:txBody>
                    <a:bodyPr wrap="square"/>
                    <a:lstStyle/>
                    <a:p>
                      <a:r>
                        <a:rPr sz="1600" b="0">
                          <a:solidFill>
                            <a:srgbClr val="262626"/>
                          </a:solidFill>
                          <a:latin typeface="Calibri"/>
                        </a:rPr>
                        <a:t>SGC · catálogo RSNC</a:t>
                      </a:r>
                    </a:p>
                  </a:txBody>
                  <a:tcPr marL="73152" marR="73152" marT="36576" marB="36576">
                    <a:solidFill>
                      <a:srgbClr val="FFFFFF"/>
                    </a:solidFill>
                  </a:tcPr>
                </a:tc>
                <a:tc>
                  <a:txBody>
                    <a:bodyPr wrap="square"/>
                    <a:lstStyle/>
                    <a:p>
                      <a:r>
                        <a:rPr sz="1600" b="0">
                          <a:solidFill>
                            <a:srgbClr val="262626"/>
                          </a:solidFill>
                          <a:latin typeface="Calibri"/>
                        </a:rPr>
                        <a:t>Eventos: magnitud, profundidad, RMS</a:t>
                      </a:r>
                    </a:p>
                  </a:txBody>
                  <a:tcPr marL="73152" marR="73152" marT="36576" marB="36576">
                    <a:solidFill>
                      <a:srgbClr val="FFFFFF"/>
                    </a:solidFill>
                  </a:tcPr>
                </a:tc>
              </a:tr>
              <a:tr h="365760">
                <a:tc>
                  <a:txBody>
                    <a:bodyPr wrap="square"/>
                    <a:lstStyle/>
                    <a:p>
                      <a:r>
                        <a:rPr sz="1600" b="0">
                          <a:solidFill>
                            <a:srgbClr val="262626"/>
                          </a:solidFill>
                          <a:latin typeface="Calibri"/>
                        </a:rPr>
                        <a:t>DANE · DIVIPOLA</a:t>
                      </a:r>
                    </a:p>
                  </a:txBody>
                  <a:tcPr marL="73152" marR="73152" marT="36576" marB="36576">
                    <a:solidFill>
                      <a:srgbClr val="F2F2F2"/>
                    </a:solidFill>
                  </a:tcPr>
                </a:tc>
                <a:tc>
                  <a:txBody>
                    <a:bodyPr wrap="square"/>
                    <a:lstStyle/>
                    <a:p>
                      <a:r>
                        <a:rPr sz="1600" b="0">
                          <a:solidFill>
                            <a:srgbClr val="262626"/>
                          </a:solidFill>
                          <a:latin typeface="Calibri"/>
                        </a:rPr>
                        <a:t>Códigos y coordenadas de cabeceras</a:t>
                      </a:r>
                    </a:p>
                  </a:txBody>
                  <a:tcPr marL="73152" marR="73152" marT="36576" marB="36576">
                    <a:solidFill>
                      <a:srgbClr val="F2F2F2"/>
                    </a:solidFill>
                  </a:tcPr>
                </a:tc>
              </a:tr>
              <a:tr h="365760">
                <a:tc>
                  <a:txBody>
                    <a:bodyPr wrap="square"/>
                    <a:lstStyle/>
                    <a:p>
                      <a:r>
                        <a:rPr sz="1600" b="0">
                          <a:solidFill>
                            <a:srgbClr val="262626"/>
                          </a:solidFill>
                          <a:latin typeface="Calibri"/>
                        </a:rPr>
                        <a:t>DANE · población</a:t>
                      </a:r>
                    </a:p>
                  </a:txBody>
                  <a:tcPr marL="73152" marR="73152" marT="36576" marB="36576">
                    <a:solidFill>
                      <a:srgbClr val="FFFFFF"/>
                    </a:solidFill>
                  </a:tcPr>
                </a:tc>
                <a:tc>
                  <a:txBody>
                    <a:bodyPr wrap="square"/>
                    <a:lstStyle/>
                    <a:p>
                      <a:r>
                        <a:rPr sz="1600" b="0">
                          <a:solidFill>
                            <a:srgbClr val="262626"/>
                          </a:solidFill>
                          <a:latin typeface="Calibri"/>
                        </a:rPr>
                        <a:t>Población municipal (2020)</a:t>
                      </a:r>
                    </a:p>
                  </a:txBody>
                  <a:tcPr marL="73152" marR="73152" marT="36576" marB="36576">
                    <a:solidFill>
                      <a:srgbClr val="FFFFFF"/>
                    </a:solidFill>
                  </a:tcPr>
                </a:tc>
              </a:tr>
              <a:tr h="365760">
                <a:tc>
                  <a:txBody>
                    <a:bodyPr wrap="square"/>
                    <a:lstStyle/>
                    <a:p>
                      <a:r>
                        <a:rPr sz="1600" b="0">
                          <a:solidFill>
                            <a:srgbClr val="262626"/>
                          </a:solidFill>
                          <a:latin typeface="Calibri"/>
                        </a:rPr>
                        <a:t>UNGRD · emergencias</a:t>
                      </a:r>
                    </a:p>
                  </a:txBody>
                  <a:tcPr marL="73152" marR="73152" marT="36576" marB="36576">
                    <a:solidFill>
                      <a:srgbClr val="F2F2F2"/>
                    </a:solidFill>
                  </a:tcPr>
                </a:tc>
                <a:tc>
                  <a:txBody>
                    <a:bodyPr wrap="square"/>
                    <a:lstStyle/>
                    <a:p>
                      <a:r>
                        <a:rPr sz="1600" b="0">
                          <a:solidFill>
                            <a:srgbClr val="262626"/>
                          </a:solidFill>
                          <a:latin typeface="Calibri"/>
                        </a:rPr>
                        <a:t>Emergencias y afectaciones</a:t>
                      </a:r>
                    </a:p>
                  </a:txBody>
                  <a:tcPr marL="73152" marR="73152" marT="36576" marB="36576">
                    <a:solidFill>
                      <a:srgbClr val="F2F2F2"/>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0"/>
            <a:ext cx="11277295" cy="1005840"/>
          </a:xfrm>
          <a:prstGeom prst="rect">
            <a:avLst/>
          </a:prstGeom>
          <a:noFill/>
        </p:spPr>
        <p:txBody>
          <a:bodyPr wrap="square" anchor="ctr">
            <a:spAutoFit/>
          </a:bodyPr>
          <a:lstStyle/>
          <a:p>
            <a:pPr algn="l">
              <a:spcAft>
                <a:spcPts val="600"/>
              </a:spcAft>
            </a:pPr>
            <a:r>
              <a:rPr sz="3000" b="1">
                <a:solidFill>
                  <a:srgbClr val="FFFFFF"/>
                </a:solidFill>
                <a:latin typeface="Calibri"/>
              </a:rPr>
              <a:t>Arquitectura del flujo</a:t>
            </a:r>
          </a:p>
        </p:txBody>
      </p:sp>
      <p:sp>
        <p:nvSpPr>
          <p:cNvPr id="4" name="Rectangle 3"/>
          <p:cNvSpPr/>
          <p:nvPr/>
        </p:nvSpPr>
        <p:spPr>
          <a:xfrm>
            <a:off x="0" y="1005840"/>
            <a:ext cx="12191695" cy="54864"/>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728655" y="6400800"/>
            <a:ext cx="1097280" cy="320040"/>
          </a:xfrm>
          <a:prstGeom prst="rect">
            <a:avLst/>
          </a:prstGeom>
          <a:noFill/>
        </p:spPr>
        <p:txBody>
          <a:bodyPr wrap="square" anchor="t">
            <a:spAutoFit/>
          </a:bodyPr>
          <a:lstStyle/>
          <a:p>
            <a:pPr algn="r">
              <a:spcAft>
                <a:spcPts val="600"/>
              </a:spcAft>
            </a:pPr>
            <a:r>
              <a:rPr sz="1200" b="0">
                <a:solidFill>
                  <a:srgbClr val="7F7F7F"/>
                </a:solidFill>
                <a:latin typeface="Calibri"/>
              </a:rPr>
              <a:t>4 / 10</a:t>
            </a:r>
          </a:p>
        </p:txBody>
      </p:sp>
      <p:sp>
        <p:nvSpPr>
          <p:cNvPr id="6" name="Rectangle 5"/>
          <p:cNvSpPr/>
          <p:nvPr/>
        </p:nvSpPr>
        <p:spPr>
          <a:xfrm>
            <a:off x="457200" y="1463040"/>
            <a:ext cx="1645920" cy="868680"/>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600" b="0">
                <a:solidFill>
                  <a:srgbClr val="262626"/>
                </a:solidFill>
                <a:latin typeface="Calibri"/>
              </a:rPr>
              <a:t>SGC: catálogo sísmico</a:t>
            </a:r>
          </a:p>
        </p:txBody>
      </p:sp>
      <p:sp>
        <p:nvSpPr>
          <p:cNvPr id="7" name="Rectangle 6"/>
          <p:cNvSpPr/>
          <p:nvPr/>
        </p:nvSpPr>
        <p:spPr>
          <a:xfrm>
            <a:off x="457200" y="2468880"/>
            <a:ext cx="1645920" cy="868680"/>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600" b="0">
                <a:solidFill>
                  <a:srgbClr val="262626"/>
                </a:solidFill>
                <a:latin typeface="Calibri"/>
              </a:rPr>
              <a:t>DANE: DIVIPOLA y población</a:t>
            </a:r>
          </a:p>
        </p:txBody>
      </p:sp>
      <p:sp>
        <p:nvSpPr>
          <p:cNvPr id="8" name="Rectangle 7"/>
          <p:cNvSpPr/>
          <p:nvPr/>
        </p:nvSpPr>
        <p:spPr>
          <a:xfrm>
            <a:off x="457200" y="3474720"/>
            <a:ext cx="1645920" cy="868680"/>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600" b="0">
                <a:solidFill>
                  <a:srgbClr val="262626"/>
                </a:solidFill>
                <a:latin typeface="Calibri"/>
              </a:rPr>
              <a:t>UNGRD: emergencias</a:t>
            </a:r>
          </a:p>
        </p:txBody>
      </p:sp>
      <p:sp>
        <p:nvSpPr>
          <p:cNvPr id="9" name="Rectangle 8"/>
          <p:cNvSpPr/>
          <p:nvPr/>
        </p:nvSpPr>
        <p:spPr>
          <a:xfrm>
            <a:off x="2377440" y="2148840"/>
            <a:ext cx="1645920" cy="173736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600" b="1">
                <a:solidFill>
                  <a:srgbClr val="FFFFFF"/>
                </a:solidFill>
                <a:latin typeface="Calibri"/>
              </a:rPr>
              <a:t>Tabla única</a:t>
            </a:r>
          </a:p>
          <a:p>
            <a:pPr algn="ctr"/>
            <a:r>
              <a:rPr sz="1600" b="0">
                <a:solidFill>
                  <a:srgbClr val="FFFFFF"/>
                </a:solidFill>
                <a:latin typeface="Calibri"/>
              </a:rPr>
              <a:t>4.224 filas × 39 variables</a:t>
            </a:r>
          </a:p>
        </p:txBody>
      </p:sp>
      <p:sp>
        <p:nvSpPr>
          <p:cNvPr id="10" name="Rectangle 9"/>
          <p:cNvSpPr/>
          <p:nvPr/>
        </p:nvSpPr>
        <p:spPr>
          <a:xfrm>
            <a:off x="4297680" y="1463040"/>
            <a:ext cx="1645920" cy="132588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600" b="1">
                <a:solidFill>
                  <a:srgbClr val="FFFFFF"/>
                </a:solidFill>
                <a:latin typeface="Calibri"/>
              </a:rPr>
              <a:t>Supervisado</a:t>
            </a:r>
          </a:p>
          <a:p>
            <a:pPr algn="ctr"/>
            <a:r>
              <a:rPr sz="1600" b="0">
                <a:solidFill>
                  <a:srgbClr val="FFFFFF"/>
                </a:solidFill>
                <a:latin typeface="Calibri"/>
              </a:rPr>
              <a:t>amenaza en t+1</a:t>
            </a:r>
          </a:p>
        </p:txBody>
      </p:sp>
      <p:sp>
        <p:nvSpPr>
          <p:cNvPr id="11" name="Rectangle 10"/>
          <p:cNvSpPr/>
          <p:nvPr/>
        </p:nvSpPr>
        <p:spPr>
          <a:xfrm>
            <a:off x="4297680" y="3611880"/>
            <a:ext cx="1645920" cy="132588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600" b="1">
                <a:solidFill>
                  <a:srgbClr val="FFFFFF"/>
                </a:solidFill>
                <a:latin typeface="Calibri"/>
              </a:rPr>
              <a:t>No supervisado</a:t>
            </a:r>
          </a:p>
          <a:p>
            <a:pPr algn="ctr"/>
            <a:r>
              <a:rPr sz="1600" b="0">
                <a:solidFill>
                  <a:srgbClr val="FFFFFF"/>
                </a:solidFill>
                <a:latin typeface="Calibri"/>
              </a:rPr>
              <a:t>tipologías</a:t>
            </a:r>
          </a:p>
        </p:txBody>
      </p:sp>
      <p:sp>
        <p:nvSpPr>
          <p:cNvPr id="12" name="Rectangle 11"/>
          <p:cNvSpPr/>
          <p:nvPr/>
        </p:nvSpPr>
        <p:spPr>
          <a:xfrm>
            <a:off x="6217920" y="2148840"/>
            <a:ext cx="1645920" cy="173736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600" b="1">
                <a:solidFill>
                  <a:srgbClr val="FFFFFF"/>
                </a:solidFill>
                <a:latin typeface="Calibri"/>
              </a:rPr>
              <a:t>Agente RL</a:t>
            </a:r>
          </a:p>
          <a:p>
            <a:pPr algn="ctr"/>
            <a:r>
              <a:rPr sz="1600" b="0">
                <a:solidFill>
                  <a:srgbClr val="FFFFFF"/>
                </a:solidFill>
                <a:latin typeface="Calibri"/>
              </a:rPr>
              <a:t>asigna K = 10</a:t>
            </a:r>
          </a:p>
        </p:txBody>
      </p:sp>
      <p:sp>
        <p:nvSpPr>
          <p:cNvPr id="13" name="Rectangle 12"/>
          <p:cNvSpPr/>
          <p:nvPr/>
        </p:nvSpPr>
        <p:spPr>
          <a:xfrm>
            <a:off x="8138160" y="2148840"/>
            <a:ext cx="1645920" cy="173736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600" b="1">
                <a:solidFill>
                  <a:srgbClr val="FFFFFF"/>
                </a:solidFill>
                <a:latin typeface="Calibri"/>
              </a:rPr>
              <a:t>Priorización</a:t>
            </a:r>
          </a:p>
          <a:p>
            <a:pPr algn="ctr"/>
            <a:r>
              <a:rPr sz="1600" b="0">
                <a:solidFill>
                  <a:srgbClr val="FFFFFF"/>
                </a:solidFill>
                <a:latin typeface="Calibri"/>
              </a:rPr>
              <a:t>2026</a:t>
            </a:r>
          </a:p>
        </p:txBody>
      </p:sp>
      <p:sp>
        <p:nvSpPr>
          <p:cNvPr id="14" name="Rectangle 13"/>
          <p:cNvSpPr/>
          <p:nvPr/>
        </p:nvSpPr>
        <p:spPr>
          <a:xfrm>
            <a:off x="10058400" y="2148840"/>
            <a:ext cx="1645920" cy="173736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600" b="1">
                <a:solidFill>
                  <a:srgbClr val="FFFFFF"/>
                </a:solidFill>
                <a:latin typeface="Calibri"/>
              </a:rPr>
              <a:t>Demo</a:t>
            </a:r>
          </a:p>
          <a:p>
            <a:pPr algn="ctr"/>
            <a:r>
              <a:rPr sz="1600" b="0">
                <a:solidFill>
                  <a:srgbClr val="FFFFFF"/>
                </a:solidFill>
                <a:latin typeface="Calibri"/>
              </a:rPr>
              <a:t>app Streamlit</a:t>
            </a:r>
          </a:p>
        </p:txBody>
      </p:sp>
      <p:cxnSp>
        <p:nvCxnSpPr>
          <p:cNvPr id="15" name="Connector 14"/>
          <p:cNvCxnSpPr/>
          <p:nvPr/>
        </p:nvCxnSpPr>
        <p:spPr>
          <a:xfrm>
            <a:off x="2103120" y="1897380"/>
            <a:ext cx="274320" cy="1120140"/>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2103120" y="2903220"/>
            <a:ext cx="274320" cy="114300"/>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2103120" y="3017520"/>
            <a:ext cx="274320" cy="891539"/>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4023360" y="2125980"/>
            <a:ext cx="274320" cy="891540"/>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4023360" y="3017520"/>
            <a:ext cx="274320" cy="1257300"/>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5943600" y="2125980"/>
            <a:ext cx="274320" cy="891540"/>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5943600" y="3017520"/>
            <a:ext cx="274320" cy="1257300"/>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7863840" y="3017520"/>
            <a:ext cx="274320" cy="0"/>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9784080" y="3017520"/>
            <a:ext cx="274320" cy="0"/>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457200" y="5074920"/>
            <a:ext cx="11277295" cy="5486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94360" y="5102352"/>
            <a:ext cx="11002975" cy="502920"/>
          </a:xfrm>
          <a:prstGeom prst="rect">
            <a:avLst/>
          </a:prstGeom>
          <a:noFill/>
        </p:spPr>
        <p:txBody>
          <a:bodyPr wrap="square" anchor="ctr">
            <a:spAutoFit/>
          </a:bodyPr>
          <a:lstStyle/>
          <a:p>
            <a:pPr algn="l">
              <a:spcAft>
                <a:spcPts val="600"/>
              </a:spcAft>
            </a:pPr>
            <a:r>
              <a:rPr sz="1600" b="0">
                <a:solidFill>
                  <a:srgbClr val="262626"/>
                </a:solidFill>
                <a:latin typeface="Calibri"/>
              </a:rPr>
              <a:t>Validación temporal: entrenamiento 2002–2015 · validación 2016–2019 · prueba 2020–2024</a:t>
            </a:r>
          </a:p>
        </p:txBody>
      </p:sp>
      <p:sp>
        <p:nvSpPr>
          <p:cNvPr id="26" name="Rectangle 25"/>
          <p:cNvSpPr/>
          <p:nvPr/>
        </p:nvSpPr>
        <p:spPr>
          <a:xfrm>
            <a:off x="457200" y="5760720"/>
            <a:ext cx="11277295" cy="5486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94360" y="5788152"/>
            <a:ext cx="11002975" cy="502920"/>
          </a:xfrm>
          <a:prstGeom prst="rect">
            <a:avLst/>
          </a:prstGeom>
          <a:noFill/>
        </p:spPr>
        <p:txBody>
          <a:bodyPr wrap="square" anchor="ctr">
            <a:spAutoFit/>
          </a:bodyPr>
          <a:lstStyle/>
          <a:p>
            <a:pPr algn="l">
              <a:spcAft>
                <a:spcPts val="600"/>
              </a:spcAft>
            </a:pPr>
            <a:r>
              <a:rPr sz="1600" b="0">
                <a:solidFill>
                  <a:srgbClr val="262626"/>
                </a:solidFill>
                <a:latin typeface="Calibri"/>
              </a:rPr>
              <a:t>Reproducible: run_all.py ejecuta src/01 a 07 con semillas fijas; pruebas en tests/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0"/>
            <a:ext cx="11277295" cy="1005840"/>
          </a:xfrm>
          <a:prstGeom prst="rect">
            <a:avLst/>
          </a:prstGeom>
          <a:noFill/>
        </p:spPr>
        <p:txBody>
          <a:bodyPr wrap="square" anchor="ctr">
            <a:spAutoFit/>
          </a:bodyPr>
          <a:lstStyle/>
          <a:p>
            <a:pPr algn="l">
              <a:spcAft>
                <a:spcPts val="600"/>
              </a:spcAft>
            </a:pPr>
            <a:r>
              <a:rPr sz="3000" b="1">
                <a:solidFill>
                  <a:srgbClr val="FFFFFF"/>
                </a:solidFill>
                <a:latin typeface="Calibri"/>
              </a:rPr>
              <a:t>Modelo supervisado: amenaza en t+1</a:t>
            </a:r>
          </a:p>
        </p:txBody>
      </p:sp>
      <p:sp>
        <p:nvSpPr>
          <p:cNvPr id="4" name="Rectangle 3"/>
          <p:cNvSpPr/>
          <p:nvPr/>
        </p:nvSpPr>
        <p:spPr>
          <a:xfrm>
            <a:off x="0" y="1005840"/>
            <a:ext cx="12191695" cy="54864"/>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728655" y="6400800"/>
            <a:ext cx="1097280" cy="320040"/>
          </a:xfrm>
          <a:prstGeom prst="rect">
            <a:avLst/>
          </a:prstGeom>
          <a:noFill/>
        </p:spPr>
        <p:txBody>
          <a:bodyPr wrap="square" anchor="t">
            <a:spAutoFit/>
          </a:bodyPr>
          <a:lstStyle/>
          <a:p>
            <a:pPr algn="r">
              <a:spcAft>
                <a:spcPts val="600"/>
              </a:spcAft>
            </a:pPr>
            <a:r>
              <a:rPr sz="1200" b="0">
                <a:solidFill>
                  <a:srgbClr val="7F7F7F"/>
                </a:solidFill>
                <a:latin typeface="Calibri"/>
              </a:rPr>
              <a:t>5 / 10</a:t>
            </a:r>
          </a:p>
        </p:txBody>
      </p:sp>
      <p:sp>
        <p:nvSpPr>
          <p:cNvPr id="6" name="TextBox 5"/>
          <p:cNvSpPr txBox="1"/>
          <p:nvPr/>
        </p:nvSpPr>
        <p:spPr>
          <a:xfrm>
            <a:off x="457200" y="1325880"/>
            <a:ext cx="5669280" cy="4754880"/>
          </a:xfrm>
          <a:prstGeom prst="rect">
            <a:avLst/>
          </a:prstGeom>
          <a:noFill/>
        </p:spPr>
        <p:txBody>
          <a:bodyPr wrap="square" anchor="t">
            <a:spAutoFit/>
          </a:bodyPr>
          <a:lstStyle/>
          <a:p>
            <a:pPr algn="l">
              <a:spcAft>
                <a:spcPts val="600"/>
              </a:spcAft>
            </a:pPr>
            <a:r>
              <a:rPr sz="1800" b="0">
                <a:solidFill>
                  <a:srgbClr val="262626"/>
                </a:solidFill>
                <a:latin typeface="Calibri"/>
              </a:rPr>
              <a:t>•  Objetivo: nivel de actividad del año t+1 (bajo, medio o alto). Modelo: RandomForestClassifier.</a:t>
            </a:r>
          </a:p>
          <a:p>
            <a:pPr algn="l">
              <a:spcAft>
                <a:spcPts val="600"/>
              </a:spcAft>
            </a:pPr>
            <a:r>
              <a:rPr sz="1800" b="0">
                <a:solidFill>
                  <a:srgbClr val="262626"/>
                </a:solidFill>
                <a:latin typeface="Calibri"/>
              </a:rPr>
              <a:t>•  F1-macro en prueba: 0,771 (IC 95 %: 0,731 a 0,809), sobre 880 municipio-año.</a:t>
            </a:r>
          </a:p>
          <a:p>
            <a:pPr algn="l">
              <a:spcAft>
                <a:spcPts val="600"/>
              </a:spcAft>
            </a:pPr>
            <a:r>
              <a:rPr sz="1800" b="0">
                <a:solidFill>
                  <a:srgbClr val="262626"/>
                </a:solidFill>
                <a:latin typeface="Calibri"/>
              </a:rPr>
              <a:t>•  Líneas base: persistencia 0,743 y mayoritaria 0,268.</a:t>
            </a:r>
          </a:p>
          <a:p>
            <a:pPr algn="l">
              <a:spcAft>
                <a:spcPts val="600"/>
              </a:spcAft>
            </a:pPr>
            <a:r>
              <a:rPr sz="1800" b="0">
                <a:solidFill>
                  <a:srgbClr val="262626"/>
                </a:solidFill>
                <a:latin typeface="Calibri"/>
              </a:rPr>
              <a:t>•  Recall de la clase alta: 73,9 %.</a:t>
            </a:r>
          </a:p>
          <a:p>
            <a:pPr algn="l">
              <a:spcAft>
                <a:spcPts val="600"/>
              </a:spcAft>
            </a:pPr>
            <a:r>
              <a:rPr sz="1800" b="0">
                <a:solidFill>
                  <a:srgbClr val="262626"/>
                </a:solidFill>
                <a:latin typeface="Calibri"/>
              </a:rPr>
              <a:t>•  Nota honesta: frente a persistencia, la ganancia es de 0,028 puntos de F1-macro; es un margen modesto y así lo reportamos.</a:t>
            </a:r>
          </a:p>
        </p:txBody>
      </p:sp>
      <p:pic>
        <p:nvPicPr>
          <p:cNvPr id="7" name="Picture 6" descr="sup_matriz_confusion.png"/>
          <p:cNvPicPr>
            <a:picLocks noChangeAspect="1"/>
          </p:cNvPicPr>
          <p:nvPr/>
        </p:nvPicPr>
        <p:blipFill>
          <a:blip r:embed="rId2"/>
          <a:stretch>
            <a:fillRect/>
          </a:stretch>
        </p:blipFill>
        <p:spPr>
          <a:xfrm>
            <a:off x="6309360" y="1589164"/>
            <a:ext cx="5440680" cy="4502631"/>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0"/>
            <a:ext cx="11277295" cy="1005840"/>
          </a:xfrm>
          <a:prstGeom prst="rect">
            <a:avLst/>
          </a:prstGeom>
          <a:noFill/>
        </p:spPr>
        <p:txBody>
          <a:bodyPr wrap="square" anchor="ctr">
            <a:spAutoFit/>
          </a:bodyPr>
          <a:lstStyle/>
          <a:p>
            <a:pPr algn="l">
              <a:spcAft>
                <a:spcPts val="600"/>
              </a:spcAft>
            </a:pPr>
            <a:r>
              <a:rPr sz="3000" b="1">
                <a:solidFill>
                  <a:srgbClr val="FFFFFF"/>
                </a:solidFill>
                <a:latin typeface="Calibri"/>
              </a:rPr>
              <a:t>No supervisado: tipologías sísmicas por municipio</a:t>
            </a:r>
          </a:p>
        </p:txBody>
      </p:sp>
      <p:sp>
        <p:nvSpPr>
          <p:cNvPr id="4" name="Rectangle 3"/>
          <p:cNvSpPr/>
          <p:nvPr/>
        </p:nvSpPr>
        <p:spPr>
          <a:xfrm>
            <a:off x="0" y="1005840"/>
            <a:ext cx="12191695" cy="54864"/>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728655" y="6400800"/>
            <a:ext cx="1097280" cy="320040"/>
          </a:xfrm>
          <a:prstGeom prst="rect">
            <a:avLst/>
          </a:prstGeom>
          <a:noFill/>
        </p:spPr>
        <p:txBody>
          <a:bodyPr wrap="square" anchor="t">
            <a:spAutoFit/>
          </a:bodyPr>
          <a:lstStyle/>
          <a:p>
            <a:pPr algn="r">
              <a:spcAft>
                <a:spcPts val="600"/>
              </a:spcAft>
            </a:pPr>
            <a:r>
              <a:rPr sz="1200" b="0">
                <a:solidFill>
                  <a:srgbClr val="7F7F7F"/>
                </a:solidFill>
                <a:latin typeface="Calibri"/>
              </a:rPr>
              <a:t>6 / 10</a:t>
            </a:r>
          </a:p>
        </p:txBody>
      </p:sp>
      <p:pic>
        <p:nvPicPr>
          <p:cNvPr id="6" name="Picture 5" descr="nosup_mapa_clusters.png"/>
          <p:cNvPicPr>
            <a:picLocks noChangeAspect="1"/>
          </p:cNvPicPr>
          <p:nvPr/>
        </p:nvPicPr>
        <p:blipFill>
          <a:blip r:embed="rId2"/>
          <a:stretch>
            <a:fillRect/>
          </a:stretch>
        </p:blipFill>
        <p:spPr>
          <a:xfrm>
            <a:off x="1183005" y="1325880"/>
            <a:ext cx="4400550" cy="5029200"/>
          </a:xfrm>
          <a:prstGeom prst="rect">
            <a:avLst/>
          </a:prstGeom>
        </p:spPr>
      </p:pic>
      <p:sp>
        <p:nvSpPr>
          <p:cNvPr id="7" name="TextBox 6"/>
          <p:cNvSpPr txBox="1"/>
          <p:nvPr/>
        </p:nvSpPr>
        <p:spPr>
          <a:xfrm>
            <a:off x="6492240" y="1325880"/>
            <a:ext cx="5303520" cy="4937760"/>
          </a:xfrm>
          <a:prstGeom prst="rect">
            <a:avLst/>
          </a:prstGeom>
          <a:noFill/>
        </p:spPr>
        <p:txBody>
          <a:bodyPr wrap="square" anchor="t">
            <a:spAutoFit/>
          </a:bodyPr>
          <a:lstStyle/>
          <a:p>
            <a:pPr algn="l">
              <a:spcAft>
                <a:spcPts val="600"/>
              </a:spcAft>
            </a:pPr>
            <a:r>
              <a:rPr sz="1800" b="0">
                <a:solidFill>
                  <a:srgbClr val="262626"/>
                </a:solidFill>
                <a:latin typeface="Calibri"/>
              </a:rPr>
              <a:t>•  k = 5 tipologías, elegido por silueta (0,538) entre k = 2 y 8.</a:t>
            </a:r>
          </a:p>
          <a:p>
            <a:pPr algn="l">
              <a:spcAft>
                <a:spcPts val="600"/>
              </a:spcAft>
            </a:pPr>
            <a:r>
              <a:rPr sz="1800" b="0">
                <a:solidFill>
                  <a:srgbClr val="262626"/>
                </a:solidFill>
                <a:latin typeface="Calibri"/>
              </a:rPr>
              <a:t>•  Municipios por tipología: 75 Intermedia moderada · 60 Cortical / superficial · 24 Intermedia activa (periferia del Nido) · 14 Baja actividad · 3 Nido / sismicidad intermedia.</a:t>
            </a:r>
          </a:p>
          <a:p>
            <a:pPr algn="l">
              <a:spcAft>
                <a:spcPts val="600"/>
              </a:spcAft>
            </a:pPr>
            <a:r>
              <a:rPr sz="1800" b="0">
                <a:solidFill>
                  <a:srgbClr val="262626"/>
                </a:solidFill>
                <a:latin typeface="Calibri"/>
              </a:rPr>
              <a:t>•  Santander: 3 municipios en el cluster Nido y 18 en intermedia activa; los vecinos suman 0 y 6.</a:t>
            </a:r>
          </a:p>
          <a:p>
            <a:pPr algn="l">
              <a:spcAft>
                <a:spcPts val="600"/>
              </a:spcAft>
            </a:pPr>
            <a:r>
              <a:rPr sz="1800" b="0">
                <a:solidFill>
                  <a:srgbClr val="262626"/>
                </a:solidFill>
                <a:latin typeface="Calibri"/>
              </a:rPr>
              <a:t>•  DBSCAN, sin etiquetas (solo lat, lon y profundidad), encuentra el Nido: 7.873 eventos centrados en 6,81, -73,11, con profundidad media de 148 km.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0"/>
            <a:ext cx="11277295" cy="1005840"/>
          </a:xfrm>
          <a:prstGeom prst="rect">
            <a:avLst/>
          </a:prstGeom>
          <a:noFill/>
        </p:spPr>
        <p:txBody>
          <a:bodyPr wrap="square" anchor="ctr">
            <a:spAutoFit/>
          </a:bodyPr>
          <a:lstStyle/>
          <a:p>
            <a:pPr algn="l">
              <a:spcAft>
                <a:spcPts val="600"/>
              </a:spcAft>
            </a:pPr>
            <a:r>
              <a:rPr sz="3000" b="1">
                <a:solidFill>
                  <a:srgbClr val="FFFFFF"/>
                </a:solidFill>
                <a:latin typeface="Calibri"/>
              </a:rPr>
              <a:t>Agente RL: formulación del problema</a:t>
            </a:r>
          </a:p>
        </p:txBody>
      </p:sp>
      <p:sp>
        <p:nvSpPr>
          <p:cNvPr id="4" name="Rectangle 3"/>
          <p:cNvSpPr/>
          <p:nvPr/>
        </p:nvSpPr>
        <p:spPr>
          <a:xfrm>
            <a:off x="0" y="1005840"/>
            <a:ext cx="12191695" cy="54864"/>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728655" y="6400800"/>
            <a:ext cx="1097280" cy="320040"/>
          </a:xfrm>
          <a:prstGeom prst="rect">
            <a:avLst/>
          </a:prstGeom>
          <a:noFill/>
        </p:spPr>
        <p:txBody>
          <a:bodyPr wrap="square" anchor="t">
            <a:spAutoFit/>
          </a:bodyPr>
          <a:lstStyle/>
          <a:p>
            <a:pPr algn="r">
              <a:spcAft>
                <a:spcPts val="600"/>
              </a:spcAft>
            </a:pPr>
            <a:r>
              <a:rPr sz="1200" b="0">
                <a:solidFill>
                  <a:srgbClr val="7F7F7F"/>
                </a:solidFill>
                <a:latin typeface="Calibri"/>
              </a:rPr>
              <a:t>7 / 10</a:t>
            </a:r>
          </a:p>
        </p:txBody>
      </p:sp>
      <p:graphicFrame>
        <p:nvGraphicFramePr>
          <p:cNvPr id="6" name="Table 5"/>
          <p:cNvGraphicFramePr>
            <a:graphicFrameLocks noGrp="1"/>
          </p:cNvGraphicFramePr>
          <p:nvPr/>
        </p:nvGraphicFramePr>
        <p:xfrm>
          <a:off x="457200" y="1371600"/>
          <a:ext cx="11277295" cy="2560320"/>
        </p:xfrm>
        <a:graphic>
          <a:graphicData uri="http://schemas.openxmlformats.org/drawingml/2006/table">
            <a:tbl>
              <a:tblPr firstRow="1" bandRow="1">
                <a:tableStyleId>{5C22544A-7EE6-4342-B048-85BDC9FD1C3A}</a:tableStyleId>
              </a:tblPr>
              <a:tblGrid>
                <a:gridCol w="2377440"/>
                <a:gridCol w="8899855"/>
              </a:tblGrid>
              <a:tr h="365760">
                <a:tc>
                  <a:txBody>
                    <a:bodyPr wrap="square"/>
                    <a:lstStyle/>
                    <a:p>
                      <a:r>
                        <a:rPr sz="1600" b="1">
                          <a:solidFill>
                            <a:srgbClr val="FFFFFF"/>
                          </a:solidFill>
                          <a:latin typeface="Calibri"/>
                        </a:rPr>
                        <a:t>Componente</a:t>
                      </a:r>
                    </a:p>
                  </a:txBody>
                  <a:tcPr marL="73152" marR="73152" marT="36576" marB="36576">
                    <a:solidFill>
                      <a:srgbClr val="1F4E79"/>
                    </a:solidFill>
                  </a:tcPr>
                </a:tc>
                <a:tc>
                  <a:txBody>
                    <a:bodyPr wrap="square"/>
                    <a:lstStyle/>
                    <a:p>
                      <a:r>
                        <a:rPr sz="1600" b="1">
                          <a:solidFill>
                            <a:srgbClr val="FFFFFF"/>
                          </a:solidFill>
                          <a:latin typeface="Calibri"/>
                        </a:rPr>
                        <a:t>Definición</a:t>
                      </a:r>
                    </a:p>
                  </a:txBody>
                  <a:tcPr marL="73152" marR="73152" marT="36576" marB="36576">
                    <a:solidFill>
                      <a:srgbClr val="1F4E79"/>
                    </a:solidFill>
                  </a:tcPr>
                </a:tc>
              </a:tr>
              <a:tr h="365760">
                <a:tc>
                  <a:txBody>
                    <a:bodyPr wrap="square"/>
                    <a:lstStyle/>
                    <a:p>
                      <a:r>
                        <a:rPr sz="1600" b="1">
                          <a:solidFill>
                            <a:srgbClr val="262626"/>
                          </a:solidFill>
                          <a:latin typeface="Calibri"/>
                        </a:rPr>
                        <a:t>Entorno</a:t>
                      </a:r>
                    </a:p>
                  </a:txBody>
                  <a:tcPr marL="73152" marR="73152" marT="36576" marB="36576">
                    <a:solidFill>
                      <a:srgbClr val="FFFFFF"/>
                    </a:solidFill>
                  </a:tcPr>
                </a:tc>
                <a:tc>
                  <a:txBody>
                    <a:bodyPr wrap="square"/>
                    <a:lstStyle/>
                    <a:p>
                      <a:r>
                        <a:rPr sz="1600" b="0">
                          <a:solidFill>
                            <a:srgbClr val="262626"/>
                          </a:solidFill>
                          <a:latin typeface="Calibri"/>
                        </a:rPr>
                        <a:t>PriorizacionSantanderEnv (Gymnasium). Cada episodio es un año; candidatos: los 87 municipios de Santander.</a:t>
                      </a:r>
                    </a:p>
                  </a:txBody>
                  <a:tcPr marL="73152" marR="73152" marT="36576" marB="36576">
                    <a:solidFill>
                      <a:srgbClr val="FFFFFF"/>
                    </a:solidFill>
                  </a:tcPr>
                </a:tc>
              </a:tr>
              <a:tr h="365760">
                <a:tc>
                  <a:txBody>
                    <a:bodyPr wrap="square"/>
                    <a:lstStyle/>
                    <a:p>
                      <a:r>
                        <a:rPr sz="1600" b="1">
                          <a:solidFill>
                            <a:srgbClr val="262626"/>
                          </a:solidFill>
                          <a:latin typeface="Calibri"/>
                        </a:rPr>
                        <a:t>Estado</a:t>
                      </a:r>
                    </a:p>
                  </a:txBody>
                  <a:tcPr marL="73152" marR="73152" marT="36576" marB="36576">
                    <a:solidFill>
                      <a:srgbClr val="F2F2F2"/>
                    </a:solidFill>
                  </a:tcPr>
                </a:tc>
                <a:tc>
                  <a:txBody>
                    <a:bodyPr wrap="square"/>
                    <a:lstStyle/>
                    <a:p>
                      <a:r>
                        <a:rPr sz="1600" b="0">
                          <a:solidFill>
                            <a:srgbClr val="262626"/>
                          </a:solidFill>
                          <a:latin typeface="Calibri"/>
                        </a:rPr>
                        <a:t>Por candidato: P(alto) y P(medio) del supervisado, cluster, población, % rural, emergencias, movimientos en masa, viviendas, distancia al Nido y bandera de ya elegido.</a:t>
                      </a:r>
                    </a:p>
                  </a:txBody>
                  <a:tcPr marL="73152" marR="73152" marT="36576" marB="36576">
                    <a:solidFill>
                      <a:srgbClr val="F2F2F2"/>
                    </a:solidFill>
                  </a:tcPr>
                </a:tc>
              </a:tr>
              <a:tr h="365760">
                <a:tc>
                  <a:txBody>
                    <a:bodyPr wrap="square"/>
                    <a:lstStyle/>
                    <a:p>
                      <a:r>
                        <a:rPr sz="1600" b="1">
                          <a:solidFill>
                            <a:srgbClr val="262626"/>
                          </a:solidFill>
                          <a:latin typeface="Calibri"/>
                        </a:rPr>
                        <a:t>Acción</a:t>
                      </a:r>
                    </a:p>
                  </a:txBody>
                  <a:tcPr marL="73152" marR="73152" marT="36576" marB="36576">
                    <a:solidFill>
                      <a:srgbClr val="FFFFFF"/>
                    </a:solidFill>
                  </a:tcPr>
                </a:tc>
                <a:tc>
                  <a:txBody>
                    <a:bodyPr wrap="square"/>
                    <a:lstStyle/>
                    <a:p>
                      <a:r>
                        <a:rPr sz="1600" b="0">
                          <a:solidFill>
                            <a:srgbClr val="262626"/>
                          </a:solidFill>
                          <a:latin typeface="Calibri"/>
                        </a:rPr>
                        <a:t>Elegir un municipio aún no elegido. El episodio termina tras K = 10 elecciones.</a:t>
                      </a:r>
                    </a:p>
                  </a:txBody>
                  <a:tcPr marL="73152" marR="73152" marT="36576" marB="36576">
                    <a:solidFill>
                      <a:srgbClr val="FFFFFF"/>
                    </a:solidFill>
                  </a:tcPr>
                </a:tc>
              </a:tr>
              <a:tr h="365760">
                <a:tc>
                  <a:txBody>
                    <a:bodyPr wrap="square"/>
                    <a:lstStyle/>
                    <a:p>
                      <a:r>
                        <a:rPr sz="1600" b="1">
                          <a:solidFill>
                            <a:srgbClr val="262626"/>
                          </a:solidFill>
                          <a:latin typeface="Calibri"/>
                        </a:rPr>
                        <a:t>Recompensa</a:t>
                      </a:r>
                    </a:p>
                  </a:txBody>
                  <a:tcPr marL="73152" marR="73152" marT="36576" marB="36576">
                    <a:solidFill>
                      <a:srgbClr val="F2F2F2"/>
                    </a:solidFill>
                  </a:tcPr>
                </a:tc>
                <a:tc>
                  <a:txBody>
                    <a:bodyPr wrap="square"/>
                    <a:lstStyle/>
                    <a:p>
                      <a:r>
                        <a:rPr sz="1600" b="0">
                          <a:solidFill>
                            <a:srgbClr val="262626"/>
                          </a:solidFill>
                          <a:latin typeface="Calibri"/>
                        </a:rPr>
                        <a:t>Riesgo realizado en t+1 = amenaza (energía sísmica M ≥ 2,5, normalizada) × (0,5 exposición + 0,5 vulnerabilidad). El agente no ve t+1.</a:t>
                      </a:r>
                    </a:p>
                  </a:txBody>
                  <a:tcPr marL="73152" marR="73152" marT="36576" marB="36576">
                    <a:solidFill>
                      <a:srgbClr val="F2F2F2"/>
                    </a:solidFill>
                  </a:tcPr>
                </a:tc>
              </a:tr>
              <a:tr h="365760">
                <a:tc>
                  <a:txBody>
                    <a:bodyPr wrap="square"/>
                    <a:lstStyle/>
                    <a:p>
                      <a:r>
                        <a:rPr sz="1600" b="1">
                          <a:solidFill>
                            <a:srgbClr val="262626"/>
                          </a:solidFill>
                          <a:latin typeface="Calibri"/>
                        </a:rPr>
                        <a:t>Algoritmo</a:t>
                      </a:r>
                    </a:p>
                  </a:txBody>
                  <a:tcPr marL="73152" marR="73152" marT="36576" marB="36576">
                    <a:solidFill>
                      <a:srgbClr val="FFFFFF"/>
                    </a:solidFill>
                  </a:tcPr>
                </a:tc>
                <a:tc>
                  <a:txBody>
                    <a:bodyPr wrap="square"/>
                    <a:lstStyle/>
                    <a:p>
                      <a:r>
                        <a:rPr sz="1600" b="0">
                          <a:solidFill>
                            <a:srgbClr val="262626"/>
                          </a:solidFill>
                          <a:latin typeface="Calibri"/>
                        </a:rPr>
                        <a:t>REINFORCE con línea base; política softmax lineal en numpy; 10 semillas.</a:t>
                      </a:r>
                    </a:p>
                  </a:txBody>
                  <a:tcPr marL="73152" marR="73152" marT="36576" marB="36576">
                    <a:solidFill>
                      <a:srgbClr val="FFFFFF"/>
                    </a:solidFill>
                  </a:tcPr>
                </a:tc>
              </a:tr>
              <a:tr h="365760">
                <a:tc>
                  <a:txBody>
                    <a:bodyPr wrap="square"/>
                    <a:lstStyle/>
                    <a:p>
                      <a:r>
                        <a:rPr sz="1600" b="1">
                          <a:solidFill>
                            <a:srgbClr val="262626"/>
                          </a:solidFill>
                          <a:latin typeface="Calibri"/>
                        </a:rPr>
                        <a:t>Periodos</a:t>
                      </a:r>
                    </a:p>
                  </a:txBody>
                  <a:tcPr marL="73152" marR="73152" marT="36576" marB="36576">
                    <a:solidFill>
                      <a:srgbClr val="F2F2F2"/>
                    </a:solidFill>
                  </a:tcPr>
                </a:tc>
                <a:tc>
                  <a:txBody>
                    <a:bodyPr wrap="square"/>
                    <a:lstStyle/>
                    <a:p>
                      <a:r>
                        <a:rPr sz="1600" b="0">
                          <a:solidFill>
                            <a:srgbClr val="262626"/>
                          </a:solidFill>
                          <a:latin typeface="Calibri"/>
                        </a:rPr>
                        <a:t>Entrenamiento 2006–2015 · validación 2016–2019 · prueba 2020–2024.</a:t>
                      </a:r>
                    </a:p>
                  </a:txBody>
                  <a:tcPr marL="73152" marR="73152" marT="36576" marB="36576">
                    <a:solidFill>
                      <a:srgbClr val="F2F2F2"/>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0"/>
            <a:ext cx="11277295" cy="1005840"/>
          </a:xfrm>
          <a:prstGeom prst="rect">
            <a:avLst/>
          </a:prstGeom>
          <a:noFill/>
        </p:spPr>
        <p:txBody>
          <a:bodyPr wrap="square" anchor="ctr">
            <a:spAutoFit/>
          </a:bodyPr>
          <a:lstStyle/>
          <a:p>
            <a:pPr algn="l">
              <a:spcAft>
                <a:spcPts val="600"/>
              </a:spcAft>
            </a:pPr>
            <a:r>
              <a:rPr sz="3000" b="1">
                <a:solidFill>
                  <a:srgbClr val="FFFFFF"/>
                </a:solidFill>
                <a:latin typeface="Calibri"/>
              </a:rPr>
              <a:t>Agente RL: resultados frente a las líneas base</a:t>
            </a:r>
          </a:p>
        </p:txBody>
      </p:sp>
      <p:sp>
        <p:nvSpPr>
          <p:cNvPr id="4" name="Rectangle 3"/>
          <p:cNvSpPr/>
          <p:nvPr/>
        </p:nvSpPr>
        <p:spPr>
          <a:xfrm>
            <a:off x="0" y="1005840"/>
            <a:ext cx="12191695" cy="54864"/>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728655" y="6400800"/>
            <a:ext cx="1097280" cy="320040"/>
          </a:xfrm>
          <a:prstGeom prst="rect">
            <a:avLst/>
          </a:prstGeom>
          <a:noFill/>
        </p:spPr>
        <p:txBody>
          <a:bodyPr wrap="square" anchor="t">
            <a:spAutoFit/>
          </a:bodyPr>
          <a:lstStyle/>
          <a:p>
            <a:pPr algn="r">
              <a:spcAft>
                <a:spcPts val="600"/>
              </a:spcAft>
            </a:pPr>
            <a:r>
              <a:rPr sz="1200" b="0">
                <a:solidFill>
                  <a:srgbClr val="7F7F7F"/>
                </a:solidFill>
                <a:latin typeface="Calibri"/>
              </a:rPr>
              <a:t>8 / 10</a:t>
            </a:r>
          </a:p>
        </p:txBody>
      </p:sp>
      <p:pic>
        <p:nvPicPr>
          <p:cNvPr id="6" name="Picture 5" descr="rl_comparacion_lineas_base.png"/>
          <p:cNvPicPr>
            <a:picLocks noChangeAspect="1"/>
          </p:cNvPicPr>
          <p:nvPr/>
        </p:nvPicPr>
        <p:blipFill>
          <a:blip r:embed="rId2"/>
          <a:stretch>
            <a:fillRect/>
          </a:stretch>
        </p:blipFill>
        <p:spPr>
          <a:xfrm>
            <a:off x="457200" y="1941576"/>
            <a:ext cx="5577840" cy="2974847"/>
          </a:xfrm>
          <a:prstGeom prst="rect">
            <a:avLst/>
          </a:prstGeom>
        </p:spPr>
      </p:pic>
      <p:pic>
        <p:nvPicPr>
          <p:cNvPr id="7" name="Picture 6" descr="rl_curva_aprendizaje.png"/>
          <p:cNvPicPr>
            <a:picLocks noChangeAspect="1"/>
          </p:cNvPicPr>
          <p:nvPr/>
        </p:nvPicPr>
        <p:blipFill>
          <a:blip r:embed="rId3"/>
          <a:stretch>
            <a:fillRect/>
          </a:stretch>
        </p:blipFill>
        <p:spPr>
          <a:xfrm>
            <a:off x="6309360" y="1898808"/>
            <a:ext cx="5440680" cy="3060382"/>
          </a:xfrm>
          <a:prstGeom prst="rect">
            <a:avLst/>
          </a:prstGeom>
        </p:spPr>
      </p:pic>
      <p:sp>
        <p:nvSpPr>
          <p:cNvPr id="8" name="TextBox 7"/>
          <p:cNvSpPr txBox="1"/>
          <p:nvPr/>
        </p:nvSpPr>
        <p:spPr>
          <a:xfrm>
            <a:off x="457200" y="5623560"/>
            <a:ext cx="11277295" cy="822960"/>
          </a:xfrm>
          <a:prstGeom prst="rect">
            <a:avLst/>
          </a:prstGeom>
          <a:noFill/>
        </p:spPr>
        <p:txBody>
          <a:bodyPr wrap="square" anchor="t">
            <a:spAutoFit/>
          </a:bodyPr>
          <a:lstStyle/>
          <a:p>
            <a:pPr algn="l">
              <a:spcAft>
                <a:spcPts val="600"/>
              </a:spcAft>
            </a:pPr>
            <a:r>
              <a:rPr sz="1800" b="1">
                <a:solidFill>
                  <a:srgbClr val="1F4E79"/>
                </a:solidFill>
                <a:latin typeface="Calibri"/>
              </a:rPr>
              <a:t>El agente alcanza el 78,6 % del óptimo (oráculo) frente al 72,8 % de la mejor línea base (índice de pesos iguales). Desviación entre semillas: 2,3 p.p.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0"/>
            <a:ext cx="11277295" cy="1005840"/>
          </a:xfrm>
          <a:prstGeom prst="rect">
            <a:avLst/>
          </a:prstGeom>
          <a:noFill/>
        </p:spPr>
        <p:txBody>
          <a:bodyPr wrap="square" anchor="ctr">
            <a:spAutoFit/>
          </a:bodyPr>
          <a:lstStyle/>
          <a:p>
            <a:pPr algn="l">
              <a:spcAft>
                <a:spcPts val="600"/>
              </a:spcAft>
            </a:pPr>
            <a:r>
              <a:rPr sz="3000" b="1">
                <a:solidFill>
                  <a:srgbClr val="FFFFFF"/>
                </a:solidFill>
                <a:latin typeface="Calibri"/>
              </a:rPr>
              <a:t>Priorización 2026: mapa y top-10</a:t>
            </a:r>
          </a:p>
        </p:txBody>
      </p:sp>
      <p:sp>
        <p:nvSpPr>
          <p:cNvPr id="4" name="Rectangle 3"/>
          <p:cNvSpPr/>
          <p:nvPr/>
        </p:nvSpPr>
        <p:spPr>
          <a:xfrm>
            <a:off x="0" y="1005840"/>
            <a:ext cx="12191695" cy="54864"/>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728655" y="6400800"/>
            <a:ext cx="1097280" cy="320040"/>
          </a:xfrm>
          <a:prstGeom prst="rect">
            <a:avLst/>
          </a:prstGeom>
          <a:noFill/>
        </p:spPr>
        <p:txBody>
          <a:bodyPr wrap="square" anchor="t">
            <a:spAutoFit/>
          </a:bodyPr>
          <a:lstStyle/>
          <a:p>
            <a:pPr algn="r">
              <a:spcAft>
                <a:spcPts val="600"/>
              </a:spcAft>
            </a:pPr>
            <a:r>
              <a:rPr sz="1200" b="0">
                <a:solidFill>
                  <a:srgbClr val="7F7F7F"/>
                </a:solidFill>
                <a:latin typeface="Calibri"/>
              </a:rPr>
              <a:t>9 / 10</a:t>
            </a:r>
          </a:p>
        </p:txBody>
      </p:sp>
      <p:pic>
        <p:nvPicPr>
          <p:cNvPr id="6" name="Picture 5" descr="rl_mapa_priorizacion.png"/>
          <p:cNvPicPr>
            <a:picLocks noChangeAspect="1"/>
          </p:cNvPicPr>
          <p:nvPr/>
        </p:nvPicPr>
        <p:blipFill>
          <a:blip r:embed="rId2"/>
          <a:stretch>
            <a:fillRect/>
          </a:stretch>
        </p:blipFill>
        <p:spPr>
          <a:xfrm>
            <a:off x="1474469" y="1280160"/>
            <a:ext cx="4000500" cy="4572000"/>
          </a:xfrm>
          <a:prstGeom prst="rect">
            <a:avLst/>
          </a:prstGeom>
        </p:spPr>
      </p:pic>
      <p:graphicFrame>
        <p:nvGraphicFramePr>
          <p:cNvPr id="7" name="Table 6"/>
          <p:cNvGraphicFramePr>
            <a:graphicFrameLocks noGrp="1"/>
          </p:cNvGraphicFramePr>
          <p:nvPr/>
        </p:nvGraphicFramePr>
        <p:xfrm>
          <a:off x="6766560" y="1325880"/>
          <a:ext cx="4937760" cy="4023360"/>
        </p:xfrm>
        <a:graphic>
          <a:graphicData uri="http://schemas.openxmlformats.org/drawingml/2006/table">
            <a:tbl>
              <a:tblPr firstRow="1" bandRow="1">
                <a:tableStyleId>{5C22544A-7EE6-4342-B048-85BDC9FD1C3A}</a:tableStyleId>
              </a:tblPr>
              <a:tblGrid>
                <a:gridCol w="914400"/>
                <a:gridCol w="2743200"/>
                <a:gridCol w="1280160"/>
              </a:tblGrid>
              <a:tr h="365760">
                <a:tc>
                  <a:txBody>
                    <a:bodyPr wrap="square"/>
                    <a:lstStyle/>
                    <a:p>
                      <a:r>
                        <a:rPr sz="1600" b="1">
                          <a:solidFill>
                            <a:srgbClr val="FFFFFF"/>
                          </a:solidFill>
                          <a:latin typeface="Calibri"/>
                        </a:rPr>
                        <a:t>Rango</a:t>
                      </a:r>
                    </a:p>
                  </a:txBody>
                  <a:tcPr marL="73152" marR="73152" marT="36576" marB="36576">
                    <a:solidFill>
                      <a:srgbClr val="1F4E79"/>
                    </a:solidFill>
                  </a:tcPr>
                </a:tc>
                <a:tc>
                  <a:txBody>
                    <a:bodyPr wrap="square"/>
                    <a:lstStyle/>
                    <a:p>
                      <a:r>
                        <a:rPr sz="1600" b="1">
                          <a:solidFill>
                            <a:srgbClr val="FFFFFF"/>
                          </a:solidFill>
                          <a:latin typeface="Calibri"/>
                        </a:rPr>
                        <a:t>Municipio</a:t>
                      </a:r>
                    </a:p>
                  </a:txBody>
                  <a:tcPr marL="73152" marR="73152" marT="36576" marB="36576">
                    <a:solidFill>
                      <a:srgbClr val="1F4E79"/>
                    </a:solidFill>
                  </a:tcPr>
                </a:tc>
                <a:tc>
                  <a:txBody>
                    <a:bodyPr wrap="square"/>
                    <a:lstStyle/>
                    <a:p>
                      <a:r>
                        <a:rPr sz="1600" b="1">
                          <a:solidFill>
                            <a:srgbClr val="FFFFFF"/>
                          </a:solidFill>
                          <a:latin typeface="Calibri"/>
                        </a:rPr>
                        <a:t>Confianza</a:t>
                      </a:r>
                    </a:p>
                  </a:txBody>
                  <a:tcPr marL="73152" marR="73152" marT="36576" marB="36576">
                    <a:solidFill>
                      <a:srgbClr val="1F4E79"/>
                    </a:solidFill>
                  </a:tcPr>
                </a:tc>
              </a:tr>
              <a:tr h="365760">
                <a:tc>
                  <a:txBody>
                    <a:bodyPr wrap="square"/>
                    <a:lstStyle/>
                    <a:p>
                      <a:r>
                        <a:rPr sz="1600" b="0">
                          <a:solidFill>
                            <a:srgbClr val="262626"/>
                          </a:solidFill>
                          <a:latin typeface="Calibri"/>
                        </a:rPr>
                        <a:t>1</a:t>
                      </a:r>
                    </a:p>
                  </a:txBody>
                  <a:tcPr marL="73152" marR="73152" marT="36576" marB="36576">
                    <a:solidFill>
                      <a:srgbClr val="FFFFFF"/>
                    </a:solidFill>
                  </a:tcPr>
                </a:tc>
                <a:tc>
                  <a:txBody>
                    <a:bodyPr wrap="square"/>
                    <a:lstStyle/>
                    <a:p>
                      <a:r>
                        <a:rPr sz="1600" b="0">
                          <a:solidFill>
                            <a:srgbClr val="262626"/>
                          </a:solidFill>
                          <a:latin typeface="Calibri"/>
                        </a:rPr>
                        <a:t>Los Santos</a:t>
                      </a:r>
                    </a:p>
                  </a:txBody>
                  <a:tcPr marL="73152" marR="73152" marT="36576" marB="36576">
                    <a:solidFill>
                      <a:srgbClr val="FFFFFF"/>
                    </a:solidFill>
                  </a:tcPr>
                </a:tc>
                <a:tc>
                  <a:txBody>
                    <a:bodyPr wrap="square"/>
                    <a:lstStyle/>
                    <a:p>
                      <a:r>
                        <a:rPr sz="1600" b="0">
                          <a:solidFill>
                            <a:srgbClr val="262626"/>
                          </a:solidFill>
                          <a:latin typeface="Calibri"/>
                        </a:rPr>
                        <a:t>Alta</a:t>
                      </a:r>
                    </a:p>
                  </a:txBody>
                  <a:tcPr marL="73152" marR="73152" marT="36576" marB="36576">
                    <a:solidFill>
                      <a:srgbClr val="FFFFFF"/>
                    </a:solidFill>
                  </a:tcPr>
                </a:tc>
              </a:tr>
              <a:tr h="365760">
                <a:tc>
                  <a:txBody>
                    <a:bodyPr wrap="square"/>
                    <a:lstStyle/>
                    <a:p>
                      <a:r>
                        <a:rPr sz="1600" b="0">
                          <a:solidFill>
                            <a:srgbClr val="262626"/>
                          </a:solidFill>
                          <a:latin typeface="Calibri"/>
                        </a:rPr>
                        <a:t>2</a:t>
                      </a:r>
                    </a:p>
                  </a:txBody>
                  <a:tcPr marL="73152" marR="73152" marT="36576" marB="36576">
                    <a:solidFill>
                      <a:srgbClr val="F2F2F2"/>
                    </a:solidFill>
                  </a:tcPr>
                </a:tc>
                <a:tc>
                  <a:txBody>
                    <a:bodyPr wrap="square"/>
                    <a:lstStyle/>
                    <a:p>
                      <a:r>
                        <a:rPr sz="1600" b="0">
                          <a:solidFill>
                            <a:srgbClr val="262626"/>
                          </a:solidFill>
                          <a:latin typeface="Calibri"/>
                        </a:rPr>
                        <a:t>El Playón</a:t>
                      </a:r>
                    </a:p>
                  </a:txBody>
                  <a:tcPr marL="73152" marR="73152" marT="36576" marB="36576">
                    <a:solidFill>
                      <a:srgbClr val="F2F2F2"/>
                    </a:solidFill>
                  </a:tcPr>
                </a:tc>
                <a:tc>
                  <a:txBody>
                    <a:bodyPr wrap="square"/>
                    <a:lstStyle/>
                    <a:p>
                      <a:r>
                        <a:rPr sz="1600" b="0">
                          <a:solidFill>
                            <a:srgbClr val="262626"/>
                          </a:solidFill>
                          <a:latin typeface="Calibri"/>
                        </a:rPr>
                        <a:t>Alta</a:t>
                      </a:r>
                    </a:p>
                  </a:txBody>
                  <a:tcPr marL="73152" marR="73152" marT="36576" marB="36576">
                    <a:solidFill>
                      <a:srgbClr val="F2F2F2"/>
                    </a:solidFill>
                  </a:tcPr>
                </a:tc>
              </a:tr>
              <a:tr h="365760">
                <a:tc>
                  <a:txBody>
                    <a:bodyPr wrap="square"/>
                    <a:lstStyle/>
                    <a:p>
                      <a:r>
                        <a:rPr sz="1600" b="0">
                          <a:solidFill>
                            <a:srgbClr val="262626"/>
                          </a:solidFill>
                          <a:latin typeface="Calibri"/>
                        </a:rPr>
                        <a:t>3</a:t>
                      </a:r>
                    </a:p>
                  </a:txBody>
                  <a:tcPr marL="73152" marR="73152" marT="36576" marB="36576">
                    <a:solidFill>
                      <a:srgbClr val="FFFFFF"/>
                    </a:solidFill>
                  </a:tcPr>
                </a:tc>
                <a:tc>
                  <a:txBody>
                    <a:bodyPr wrap="square"/>
                    <a:lstStyle/>
                    <a:p>
                      <a:r>
                        <a:rPr sz="1600" b="0">
                          <a:solidFill>
                            <a:srgbClr val="262626"/>
                          </a:solidFill>
                          <a:latin typeface="Calibri"/>
                        </a:rPr>
                        <a:t>Bucaramanga</a:t>
                      </a:r>
                    </a:p>
                  </a:txBody>
                  <a:tcPr marL="73152" marR="73152" marT="36576" marB="36576">
                    <a:solidFill>
                      <a:srgbClr val="FFFFFF"/>
                    </a:solidFill>
                  </a:tcPr>
                </a:tc>
                <a:tc>
                  <a:txBody>
                    <a:bodyPr wrap="square"/>
                    <a:lstStyle/>
                    <a:p>
                      <a:r>
                        <a:rPr sz="1600" b="0">
                          <a:solidFill>
                            <a:srgbClr val="262626"/>
                          </a:solidFill>
                          <a:latin typeface="Calibri"/>
                        </a:rPr>
                        <a:t>Alta</a:t>
                      </a:r>
                    </a:p>
                  </a:txBody>
                  <a:tcPr marL="73152" marR="73152" marT="36576" marB="36576">
                    <a:solidFill>
                      <a:srgbClr val="FFFFFF"/>
                    </a:solidFill>
                  </a:tcPr>
                </a:tc>
              </a:tr>
              <a:tr h="365760">
                <a:tc>
                  <a:txBody>
                    <a:bodyPr wrap="square"/>
                    <a:lstStyle/>
                    <a:p>
                      <a:r>
                        <a:rPr sz="1600" b="0">
                          <a:solidFill>
                            <a:srgbClr val="262626"/>
                          </a:solidFill>
                          <a:latin typeface="Calibri"/>
                        </a:rPr>
                        <a:t>4</a:t>
                      </a:r>
                    </a:p>
                  </a:txBody>
                  <a:tcPr marL="73152" marR="73152" marT="36576" marB="36576">
                    <a:solidFill>
                      <a:srgbClr val="F2F2F2"/>
                    </a:solidFill>
                  </a:tcPr>
                </a:tc>
                <a:tc>
                  <a:txBody>
                    <a:bodyPr wrap="square"/>
                    <a:lstStyle/>
                    <a:p>
                      <a:r>
                        <a:rPr sz="1600" b="0">
                          <a:solidFill>
                            <a:srgbClr val="262626"/>
                          </a:solidFill>
                          <a:latin typeface="Calibri"/>
                        </a:rPr>
                        <a:t>El Carmen de Chucurí</a:t>
                      </a:r>
                    </a:p>
                  </a:txBody>
                  <a:tcPr marL="73152" marR="73152" marT="36576" marB="36576">
                    <a:solidFill>
                      <a:srgbClr val="F2F2F2"/>
                    </a:solidFill>
                  </a:tcPr>
                </a:tc>
                <a:tc>
                  <a:txBody>
                    <a:bodyPr wrap="square"/>
                    <a:lstStyle/>
                    <a:p>
                      <a:r>
                        <a:rPr sz="1600" b="0">
                          <a:solidFill>
                            <a:srgbClr val="262626"/>
                          </a:solidFill>
                          <a:latin typeface="Calibri"/>
                        </a:rPr>
                        <a:t>Alta</a:t>
                      </a:r>
                    </a:p>
                  </a:txBody>
                  <a:tcPr marL="73152" marR="73152" marT="36576" marB="36576">
                    <a:solidFill>
                      <a:srgbClr val="F2F2F2"/>
                    </a:solidFill>
                  </a:tcPr>
                </a:tc>
              </a:tr>
              <a:tr h="365760">
                <a:tc>
                  <a:txBody>
                    <a:bodyPr wrap="square"/>
                    <a:lstStyle/>
                    <a:p>
                      <a:r>
                        <a:rPr sz="1600" b="0">
                          <a:solidFill>
                            <a:srgbClr val="262626"/>
                          </a:solidFill>
                          <a:latin typeface="Calibri"/>
                        </a:rPr>
                        <a:t>5</a:t>
                      </a:r>
                    </a:p>
                  </a:txBody>
                  <a:tcPr marL="73152" marR="73152" marT="36576" marB="36576">
                    <a:solidFill>
                      <a:srgbClr val="FFFFFF"/>
                    </a:solidFill>
                  </a:tcPr>
                </a:tc>
                <a:tc>
                  <a:txBody>
                    <a:bodyPr wrap="square"/>
                    <a:lstStyle/>
                    <a:p>
                      <a:r>
                        <a:rPr sz="1600" b="0">
                          <a:solidFill>
                            <a:srgbClr val="262626"/>
                          </a:solidFill>
                          <a:latin typeface="Calibri"/>
                        </a:rPr>
                        <a:t>Barrancabermeja</a:t>
                      </a:r>
                    </a:p>
                  </a:txBody>
                  <a:tcPr marL="73152" marR="73152" marT="36576" marB="36576">
                    <a:solidFill>
                      <a:srgbClr val="FFFFFF"/>
                    </a:solidFill>
                  </a:tcPr>
                </a:tc>
                <a:tc>
                  <a:txBody>
                    <a:bodyPr wrap="square"/>
                    <a:lstStyle/>
                    <a:p>
                      <a:r>
                        <a:rPr sz="1600" b="0">
                          <a:solidFill>
                            <a:srgbClr val="262626"/>
                          </a:solidFill>
                          <a:latin typeface="Calibri"/>
                        </a:rPr>
                        <a:t>Alta</a:t>
                      </a:r>
                    </a:p>
                  </a:txBody>
                  <a:tcPr marL="73152" marR="73152" marT="36576" marB="36576">
                    <a:solidFill>
                      <a:srgbClr val="FFFFFF"/>
                    </a:solidFill>
                  </a:tcPr>
                </a:tc>
              </a:tr>
              <a:tr h="365760">
                <a:tc>
                  <a:txBody>
                    <a:bodyPr wrap="square"/>
                    <a:lstStyle/>
                    <a:p>
                      <a:r>
                        <a:rPr sz="1600" b="0">
                          <a:solidFill>
                            <a:srgbClr val="262626"/>
                          </a:solidFill>
                          <a:latin typeface="Calibri"/>
                        </a:rPr>
                        <a:t>6</a:t>
                      </a:r>
                    </a:p>
                  </a:txBody>
                  <a:tcPr marL="73152" marR="73152" marT="36576" marB="36576">
                    <a:solidFill>
                      <a:srgbClr val="F2F2F2"/>
                    </a:solidFill>
                  </a:tcPr>
                </a:tc>
                <a:tc>
                  <a:txBody>
                    <a:bodyPr wrap="square"/>
                    <a:lstStyle/>
                    <a:p>
                      <a:r>
                        <a:rPr sz="1600" b="0">
                          <a:solidFill>
                            <a:srgbClr val="262626"/>
                          </a:solidFill>
                          <a:latin typeface="Calibri"/>
                        </a:rPr>
                        <a:t>Piedecuesta</a:t>
                      </a:r>
                    </a:p>
                  </a:txBody>
                  <a:tcPr marL="73152" marR="73152" marT="36576" marB="36576">
                    <a:solidFill>
                      <a:srgbClr val="F2F2F2"/>
                    </a:solidFill>
                  </a:tcPr>
                </a:tc>
                <a:tc>
                  <a:txBody>
                    <a:bodyPr wrap="square"/>
                    <a:lstStyle/>
                    <a:p>
                      <a:r>
                        <a:rPr sz="1600" b="0">
                          <a:solidFill>
                            <a:srgbClr val="262626"/>
                          </a:solidFill>
                          <a:latin typeface="Calibri"/>
                        </a:rPr>
                        <a:t>Alta</a:t>
                      </a:r>
                    </a:p>
                  </a:txBody>
                  <a:tcPr marL="73152" marR="73152" marT="36576" marB="36576">
                    <a:solidFill>
                      <a:srgbClr val="F2F2F2"/>
                    </a:solidFill>
                  </a:tcPr>
                </a:tc>
              </a:tr>
              <a:tr h="365760">
                <a:tc>
                  <a:txBody>
                    <a:bodyPr wrap="square"/>
                    <a:lstStyle/>
                    <a:p>
                      <a:r>
                        <a:rPr sz="1600" b="0">
                          <a:solidFill>
                            <a:srgbClr val="262626"/>
                          </a:solidFill>
                          <a:latin typeface="Calibri"/>
                        </a:rPr>
                        <a:t>7</a:t>
                      </a:r>
                    </a:p>
                  </a:txBody>
                  <a:tcPr marL="73152" marR="73152" marT="36576" marB="36576">
                    <a:solidFill>
                      <a:srgbClr val="FFFFFF"/>
                    </a:solidFill>
                  </a:tcPr>
                </a:tc>
                <a:tc>
                  <a:txBody>
                    <a:bodyPr wrap="square"/>
                    <a:lstStyle/>
                    <a:p>
                      <a:r>
                        <a:rPr sz="1600" b="0">
                          <a:solidFill>
                            <a:srgbClr val="262626"/>
                          </a:solidFill>
                          <a:latin typeface="Calibri"/>
                        </a:rPr>
                        <a:t>Sabana de Torres</a:t>
                      </a:r>
                    </a:p>
                  </a:txBody>
                  <a:tcPr marL="73152" marR="73152" marT="36576" marB="36576">
                    <a:solidFill>
                      <a:srgbClr val="FFFFFF"/>
                    </a:solidFill>
                  </a:tcPr>
                </a:tc>
                <a:tc>
                  <a:txBody>
                    <a:bodyPr wrap="square"/>
                    <a:lstStyle/>
                    <a:p>
                      <a:r>
                        <a:rPr sz="1600" b="0">
                          <a:solidFill>
                            <a:srgbClr val="262626"/>
                          </a:solidFill>
                          <a:latin typeface="Calibri"/>
                        </a:rPr>
                        <a:t>Alta</a:t>
                      </a:r>
                    </a:p>
                  </a:txBody>
                  <a:tcPr marL="73152" marR="73152" marT="36576" marB="36576">
                    <a:solidFill>
                      <a:srgbClr val="FFFFFF"/>
                    </a:solidFill>
                  </a:tcPr>
                </a:tc>
              </a:tr>
              <a:tr h="365760">
                <a:tc>
                  <a:txBody>
                    <a:bodyPr wrap="square"/>
                    <a:lstStyle/>
                    <a:p>
                      <a:r>
                        <a:rPr sz="1600" b="0">
                          <a:solidFill>
                            <a:srgbClr val="262626"/>
                          </a:solidFill>
                          <a:latin typeface="Calibri"/>
                        </a:rPr>
                        <a:t>8</a:t>
                      </a:r>
                    </a:p>
                  </a:txBody>
                  <a:tcPr marL="73152" marR="73152" marT="36576" marB="36576">
                    <a:solidFill>
                      <a:srgbClr val="F2F2F2"/>
                    </a:solidFill>
                  </a:tcPr>
                </a:tc>
                <a:tc>
                  <a:txBody>
                    <a:bodyPr wrap="square"/>
                    <a:lstStyle/>
                    <a:p>
                      <a:r>
                        <a:rPr sz="1600" b="0">
                          <a:solidFill>
                            <a:srgbClr val="262626"/>
                          </a:solidFill>
                          <a:latin typeface="Calibri"/>
                        </a:rPr>
                        <a:t>Vélez</a:t>
                      </a:r>
                    </a:p>
                  </a:txBody>
                  <a:tcPr marL="73152" marR="73152" marT="36576" marB="36576">
                    <a:solidFill>
                      <a:srgbClr val="F2F2F2"/>
                    </a:solidFill>
                  </a:tcPr>
                </a:tc>
                <a:tc>
                  <a:txBody>
                    <a:bodyPr wrap="square"/>
                    <a:lstStyle/>
                    <a:p>
                      <a:r>
                        <a:rPr sz="1600" b="0">
                          <a:solidFill>
                            <a:srgbClr val="262626"/>
                          </a:solidFill>
                          <a:latin typeface="Calibri"/>
                        </a:rPr>
                        <a:t>Alta</a:t>
                      </a:r>
                    </a:p>
                  </a:txBody>
                  <a:tcPr marL="73152" marR="73152" marT="36576" marB="36576">
                    <a:solidFill>
                      <a:srgbClr val="F2F2F2"/>
                    </a:solidFill>
                  </a:tcPr>
                </a:tc>
              </a:tr>
              <a:tr h="365760">
                <a:tc>
                  <a:txBody>
                    <a:bodyPr wrap="square"/>
                    <a:lstStyle/>
                    <a:p>
                      <a:r>
                        <a:rPr sz="1600" b="0">
                          <a:solidFill>
                            <a:srgbClr val="262626"/>
                          </a:solidFill>
                          <a:latin typeface="Calibri"/>
                        </a:rPr>
                        <a:t>9</a:t>
                      </a:r>
                    </a:p>
                  </a:txBody>
                  <a:tcPr marL="73152" marR="73152" marT="36576" marB="36576">
                    <a:solidFill>
                      <a:srgbClr val="FFFFFF"/>
                    </a:solidFill>
                  </a:tcPr>
                </a:tc>
                <a:tc>
                  <a:txBody>
                    <a:bodyPr wrap="square"/>
                    <a:lstStyle/>
                    <a:p>
                      <a:r>
                        <a:rPr sz="1600" b="0">
                          <a:solidFill>
                            <a:srgbClr val="262626"/>
                          </a:solidFill>
                          <a:latin typeface="Calibri"/>
                        </a:rPr>
                        <a:t>Rionegro</a:t>
                      </a:r>
                    </a:p>
                  </a:txBody>
                  <a:tcPr marL="73152" marR="73152" marT="36576" marB="36576">
                    <a:solidFill>
                      <a:srgbClr val="FFFFFF"/>
                    </a:solidFill>
                  </a:tcPr>
                </a:tc>
                <a:tc>
                  <a:txBody>
                    <a:bodyPr wrap="square"/>
                    <a:lstStyle/>
                    <a:p>
                      <a:r>
                        <a:rPr sz="1600" b="0">
                          <a:solidFill>
                            <a:srgbClr val="262626"/>
                          </a:solidFill>
                          <a:latin typeface="Calibri"/>
                        </a:rPr>
                        <a:t>Alta</a:t>
                      </a:r>
                    </a:p>
                  </a:txBody>
                  <a:tcPr marL="73152" marR="73152" marT="36576" marB="36576">
                    <a:solidFill>
                      <a:srgbClr val="FFFFFF"/>
                    </a:solidFill>
                  </a:tcPr>
                </a:tc>
              </a:tr>
              <a:tr h="365760">
                <a:tc>
                  <a:txBody>
                    <a:bodyPr wrap="square"/>
                    <a:lstStyle/>
                    <a:p>
                      <a:r>
                        <a:rPr sz="1600" b="0">
                          <a:solidFill>
                            <a:srgbClr val="262626"/>
                          </a:solidFill>
                          <a:latin typeface="Calibri"/>
                        </a:rPr>
                        <a:t>10</a:t>
                      </a:r>
                    </a:p>
                  </a:txBody>
                  <a:tcPr marL="73152" marR="73152" marT="36576" marB="36576">
                    <a:solidFill>
                      <a:srgbClr val="F2F2F2"/>
                    </a:solidFill>
                  </a:tcPr>
                </a:tc>
                <a:tc>
                  <a:txBody>
                    <a:bodyPr wrap="square"/>
                    <a:lstStyle/>
                    <a:p>
                      <a:r>
                        <a:rPr sz="1600" b="0">
                          <a:solidFill>
                            <a:srgbClr val="262626"/>
                          </a:solidFill>
                          <a:latin typeface="Calibri"/>
                        </a:rPr>
                        <a:t>Zapatoca</a:t>
                      </a:r>
                    </a:p>
                  </a:txBody>
                  <a:tcPr marL="73152" marR="73152" marT="36576" marB="36576">
                    <a:solidFill>
                      <a:srgbClr val="F2F2F2"/>
                    </a:solidFill>
                  </a:tcPr>
                </a:tc>
                <a:tc>
                  <a:txBody>
                    <a:bodyPr wrap="square"/>
                    <a:lstStyle/>
                    <a:p>
                      <a:r>
                        <a:rPr sz="1600" b="0">
                          <a:solidFill>
                            <a:srgbClr val="262626"/>
                          </a:solidFill>
                          <a:latin typeface="Calibri"/>
                        </a:rPr>
                        <a:t>Media</a:t>
                      </a:r>
                    </a:p>
                  </a:txBody>
                  <a:tcPr marL="73152" marR="73152" marT="36576" marB="36576">
                    <a:solidFill>
                      <a:srgbClr val="F2F2F2"/>
                    </a:solidFill>
                  </a:tcPr>
                </a:tc>
              </a:tr>
            </a:tbl>
          </a:graphicData>
        </a:graphic>
      </p:graphicFrame>
      <p:sp>
        <p:nvSpPr>
          <p:cNvPr id="8" name="TextBox 7"/>
          <p:cNvSpPr txBox="1"/>
          <p:nvPr/>
        </p:nvSpPr>
        <p:spPr>
          <a:xfrm>
            <a:off x="457200" y="5897880"/>
            <a:ext cx="11277295" cy="640080"/>
          </a:xfrm>
          <a:prstGeom prst="rect">
            <a:avLst/>
          </a:prstGeom>
          <a:noFill/>
        </p:spPr>
        <p:txBody>
          <a:bodyPr wrap="square" anchor="t">
            <a:spAutoFit/>
          </a:bodyPr>
          <a:lstStyle/>
          <a:p>
            <a:pPr algn="l">
              <a:spcAft>
                <a:spcPts val="600"/>
              </a:spcAft>
            </a:pPr>
            <a:r>
              <a:rPr sz="1600" b="0">
                <a:solidFill>
                  <a:srgbClr val="262626"/>
                </a:solidFill>
                <a:latin typeface="Calibri"/>
              </a:rPr>
              <a:t>Exploratoria: aplica la política al estado de 2025. 9 de los 10 primeros tienen confianza alta, según la frecuencia con que entran al top-K.</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0"/>
            <a:ext cx="11277295" cy="1005840"/>
          </a:xfrm>
          <a:prstGeom prst="rect">
            <a:avLst/>
          </a:prstGeom>
          <a:noFill/>
        </p:spPr>
        <p:txBody>
          <a:bodyPr wrap="square" anchor="ctr">
            <a:spAutoFit/>
          </a:bodyPr>
          <a:lstStyle/>
          <a:p>
            <a:pPr algn="l">
              <a:spcAft>
                <a:spcPts val="600"/>
              </a:spcAft>
            </a:pPr>
            <a:r>
              <a:rPr sz="3000" b="1">
                <a:solidFill>
                  <a:srgbClr val="FFFFFF"/>
                </a:solidFill>
                <a:latin typeface="Calibri"/>
              </a:rPr>
              <a:t>Impacto, limitaciones y extensiones</a:t>
            </a:r>
          </a:p>
        </p:txBody>
      </p:sp>
      <p:sp>
        <p:nvSpPr>
          <p:cNvPr id="4" name="Rectangle 3"/>
          <p:cNvSpPr/>
          <p:nvPr/>
        </p:nvSpPr>
        <p:spPr>
          <a:xfrm>
            <a:off x="0" y="1005840"/>
            <a:ext cx="12191695" cy="54864"/>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728655" y="6400800"/>
            <a:ext cx="1097280" cy="320040"/>
          </a:xfrm>
          <a:prstGeom prst="rect">
            <a:avLst/>
          </a:prstGeom>
          <a:noFill/>
        </p:spPr>
        <p:txBody>
          <a:bodyPr wrap="square" anchor="t">
            <a:spAutoFit/>
          </a:bodyPr>
          <a:lstStyle/>
          <a:p>
            <a:pPr algn="r">
              <a:spcAft>
                <a:spcPts val="600"/>
              </a:spcAft>
            </a:pPr>
            <a:r>
              <a:rPr sz="1200" b="0">
                <a:solidFill>
                  <a:srgbClr val="7F7F7F"/>
                </a:solidFill>
                <a:latin typeface="Calibri"/>
              </a:rPr>
              <a:t>10 / 10</a:t>
            </a:r>
          </a:p>
        </p:txBody>
      </p:sp>
      <p:sp>
        <p:nvSpPr>
          <p:cNvPr id="6" name="Rectangle 5"/>
          <p:cNvSpPr/>
          <p:nvPr/>
        </p:nvSpPr>
        <p:spPr>
          <a:xfrm>
            <a:off x="457200" y="1325880"/>
            <a:ext cx="3576218" cy="54864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2000" b="1">
                <a:solidFill>
                  <a:srgbClr val="FFFFFF"/>
                </a:solidFill>
                <a:latin typeface="Calibri"/>
              </a:rPr>
              <a:t>Impacto</a:t>
            </a:r>
          </a:p>
        </p:txBody>
      </p:sp>
      <p:sp>
        <p:nvSpPr>
          <p:cNvPr id="7" name="Rectangle 6"/>
          <p:cNvSpPr/>
          <p:nvPr/>
        </p:nvSpPr>
        <p:spPr>
          <a:xfrm>
            <a:off x="457200" y="1874519"/>
            <a:ext cx="3576218" cy="36576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2011680"/>
            <a:ext cx="3356762" cy="3474720"/>
          </a:xfrm>
          <a:prstGeom prst="rect">
            <a:avLst/>
          </a:prstGeom>
          <a:noFill/>
        </p:spPr>
        <p:txBody>
          <a:bodyPr wrap="square" anchor="t">
            <a:spAutoFit/>
          </a:bodyPr>
          <a:lstStyle/>
          <a:p>
            <a:pPr algn="l">
              <a:spcAft>
                <a:spcPts val="600"/>
              </a:spcAft>
            </a:pPr>
            <a:r>
              <a:rPr sz="1800" b="0">
                <a:solidFill>
                  <a:srgbClr val="262626"/>
                </a:solidFill>
                <a:latin typeface="Calibri"/>
              </a:rPr>
              <a:t>•  Orientar la microzonificación sísmica de la Gobernación y la CDGRD.</a:t>
            </a:r>
          </a:p>
          <a:p>
            <a:pPr algn="l">
              <a:spcAft>
                <a:spcPts val="600"/>
              </a:spcAft>
            </a:pPr>
            <a:r>
              <a:rPr sz="1800" b="0">
                <a:solidFill>
                  <a:srgbClr val="262626"/>
                </a:solidFill>
                <a:latin typeface="Calibri"/>
              </a:rPr>
              <a:t>•  Priorizar inspecciones estructurales en los municipios de mayor confianza.</a:t>
            </a:r>
          </a:p>
          <a:p>
            <a:pPr algn="l">
              <a:spcAft>
                <a:spcPts val="600"/>
              </a:spcAft>
            </a:pPr>
            <a:r>
              <a:rPr sz="1800" b="0">
                <a:solidFill>
                  <a:srgbClr val="262626"/>
                </a:solidFill>
                <a:latin typeface="Calibri"/>
              </a:rPr>
              <a:t>•  Focalizar simulacros y planes de respuesta.</a:t>
            </a:r>
          </a:p>
        </p:txBody>
      </p:sp>
      <p:sp>
        <p:nvSpPr>
          <p:cNvPr id="9" name="Rectangle 8"/>
          <p:cNvSpPr/>
          <p:nvPr/>
        </p:nvSpPr>
        <p:spPr>
          <a:xfrm>
            <a:off x="4307738" y="1325880"/>
            <a:ext cx="3576218" cy="54864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2000" b="1">
                <a:solidFill>
                  <a:srgbClr val="FFFFFF"/>
                </a:solidFill>
                <a:latin typeface="Calibri"/>
              </a:rPr>
              <a:t>Limitaciones</a:t>
            </a:r>
          </a:p>
        </p:txBody>
      </p:sp>
      <p:sp>
        <p:nvSpPr>
          <p:cNvPr id="10" name="Rectangle 9"/>
          <p:cNvSpPr/>
          <p:nvPr/>
        </p:nvSpPr>
        <p:spPr>
          <a:xfrm>
            <a:off x="4307738" y="1874519"/>
            <a:ext cx="3576218" cy="36576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17466" y="2011680"/>
            <a:ext cx="3356762" cy="3474720"/>
          </a:xfrm>
          <a:prstGeom prst="rect">
            <a:avLst/>
          </a:prstGeom>
          <a:noFill/>
        </p:spPr>
        <p:txBody>
          <a:bodyPr wrap="square" anchor="t">
            <a:spAutoFit/>
          </a:bodyPr>
          <a:lstStyle/>
          <a:p>
            <a:pPr algn="l">
              <a:spcAft>
                <a:spcPts val="600"/>
              </a:spcAft>
            </a:pPr>
            <a:r>
              <a:rPr sz="1800" b="0">
                <a:solidFill>
                  <a:srgbClr val="262626"/>
                </a:solidFill>
                <a:latin typeface="Calibri"/>
              </a:rPr>
              <a:t>•  El riesgo realizado es un proxy: no hay daños por sismo con resolución suficiente.</a:t>
            </a:r>
          </a:p>
          <a:p>
            <a:pPr algn="l">
              <a:spcAft>
                <a:spcPts val="600"/>
              </a:spcAft>
            </a:pPr>
            <a:r>
              <a:rPr sz="1800" b="0">
                <a:solidFill>
                  <a:srgbClr val="262626"/>
                </a:solidFill>
                <a:latin typeface="Calibri"/>
              </a:rPr>
              <a:t>•  Exposición (2020) y vulnerabilidad (2019–2025) son estáticas.</a:t>
            </a:r>
          </a:p>
          <a:p>
            <a:pPr algn="l">
              <a:spcAft>
                <a:spcPts val="600"/>
              </a:spcAft>
            </a:pPr>
            <a:r>
              <a:rPr sz="1800" b="0">
                <a:solidFill>
                  <a:srgbClr val="262626"/>
                </a:solidFill>
                <a:latin typeface="Calibri"/>
              </a:rPr>
              <a:t>•  Cada sismo se asigna a la cabecera más cercana, no a un polígono oficial.</a:t>
            </a:r>
          </a:p>
        </p:txBody>
      </p:sp>
      <p:sp>
        <p:nvSpPr>
          <p:cNvPr id="12" name="Rectangle 11"/>
          <p:cNvSpPr/>
          <p:nvPr/>
        </p:nvSpPr>
        <p:spPr>
          <a:xfrm>
            <a:off x="8158276" y="1325880"/>
            <a:ext cx="3576218" cy="54864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2000" b="1">
                <a:solidFill>
                  <a:srgbClr val="FFFFFF"/>
                </a:solidFill>
                <a:latin typeface="Calibri"/>
              </a:rPr>
              <a:t>Extensiones</a:t>
            </a:r>
          </a:p>
        </p:txBody>
      </p:sp>
      <p:sp>
        <p:nvSpPr>
          <p:cNvPr id="13" name="Rectangle 12"/>
          <p:cNvSpPr/>
          <p:nvPr/>
        </p:nvSpPr>
        <p:spPr>
          <a:xfrm>
            <a:off x="8158276" y="1874519"/>
            <a:ext cx="3576218" cy="36576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68004" y="2011680"/>
            <a:ext cx="3356762" cy="3474720"/>
          </a:xfrm>
          <a:prstGeom prst="rect">
            <a:avLst/>
          </a:prstGeom>
          <a:noFill/>
        </p:spPr>
        <p:txBody>
          <a:bodyPr wrap="square" anchor="t">
            <a:spAutoFit/>
          </a:bodyPr>
          <a:lstStyle/>
          <a:p>
            <a:pPr algn="l">
              <a:spcAft>
                <a:spcPts val="600"/>
              </a:spcAft>
            </a:pPr>
            <a:r>
              <a:rPr sz="1800" b="0">
                <a:solidFill>
                  <a:srgbClr val="262626"/>
                </a:solidFill>
                <a:latin typeface="Calibri"/>
              </a:rPr>
              <a:t>•  Polígonos municipales del IGAC.</a:t>
            </a:r>
          </a:p>
          <a:p>
            <a:pPr algn="l">
              <a:spcAft>
                <a:spcPts val="600"/>
              </a:spcAft>
            </a:pPr>
            <a:r>
              <a:rPr sz="1800" b="0">
                <a:solidFill>
                  <a:srgbClr val="262626"/>
                </a:solidFill>
                <a:latin typeface="Calibri"/>
              </a:rPr>
              <a:t>•  Amenaza según NSR-10 (Aa/Av).</a:t>
            </a:r>
          </a:p>
          <a:p>
            <a:pPr algn="l">
              <a:spcAft>
                <a:spcPts val="600"/>
              </a:spcAft>
            </a:pPr>
            <a:r>
              <a:rPr sz="1800" b="0">
                <a:solidFill>
                  <a:srgbClr val="262626"/>
                </a:solidFill>
                <a:latin typeface="Calibri"/>
              </a:rPr>
              <a:t>•  Sismicidad histórica con daños del SISH.</a:t>
            </a:r>
          </a:p>
          <a:p>
            <a:pPr algn="l">
              <a:spcAft>
                <a:spcPts val="600"/>
              </a:spcAft>
            </a:pPr>
            <a:r>
              <a:rPr sz="1800" b="0">
                <a:solidFill>
                  <a:srgbClr val="262626"/>
                </a:solidFill>
                <a:latin typeface="Calibri"/>
              </a:rPr>
              <a:t>•  Costo por inspección dentro de la recompensa.</a:t>
            </a:r>
          </a:p>
        </p:txBody>
      </p:sp>
      <p:sp>
        <p:nvSpPr>
          <p:cNvPr id="15" name="TextBox 14"/>
          <p:cNvSpPr txBox="1"/>
          <p:nvPr/>
        </p:nvSpPr>
        <p:spPr>
          <a:xfrm>
            <a:off x="457200" y="5669280"/>
            <a:ext cx="11277295" cy="640080"/>
          </a:xfrm>
          <a:prstGeom prst="rect">
            <a:avLst/>
          </a:prstGeom>
          <a:noFill/>
        </p:spPr>
        <p:txBody>
          <a:bodyPr wrap="square" anchor="t">
            <a:spAutoFit/>
          </a:bodyPr>
          <a:lstStyle/>
          <a:p>
            <a:pPr algn="l">
              <a:spcAft>
                <a:spcPts val="600"/>
              </a:spcAft>
            </a:pPr>
            <a:r>
              <a:rPr sz="1800" b="1">
                <a:solidFill>
                  <a:srgbClr val="E07A1F"/>
                </a:solidFill>
                <a:latin typeface="Calibri"/>
              </a:rPr>
              <a:t>La priorización es exploratoria: orienta estudios y no predice sismos.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